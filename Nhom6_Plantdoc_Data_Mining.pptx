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C27852D0-42B7-E147-205C-2AED98E85DB4}">
          <p14:sldIdLst>
            <p14:sldId id="256"/>
            <p14:sldId id="257"/>
            <p14:sldId id="258"/>
          </p14:sldIdLst>
        </p14:section>
        <p14:section name="1. Dữ liệu" id="{4804C190-AA0A-7E09-3AAC-1EA82E8725EE}">
          <p14:sldIdLst>
            <p14:sldId id="259"/>
            <p14:sldId id="260"/>
            <p14:sldId id="261"/>
          </p14:sldIdLst>
        </p14:section>
        <p14:section name="2. Tiền xử lý" id="{6130B506-E74F-CBED-C905-6F4BBA363E8F}">
          <p14:sldIdLst>
            <p14:sldId id="262"/>
            <p14:sldId id="263"/>
            <p14:sldId id="264"/>
            <p14:sldId id="265"/>
          </p14:sldIdLst>
        </p14:section>
        <p14:section name="3. Mô hình" id="{B8E05FF7-0FD8-0B1E-6767-580358D71417}">
          <p14:sldIdLst>
            <p14:sldId id="266"/>
            <p14:sldId id="267"/>
            <p14:sldId id="268"/>
          </p14:sldIdLst>
        </p14:section>
        <p14:section name="4. Kết quả" id="{00593973-88B2-3E40-B42C-7959D66156E7}">
          <p14:sldIdLst>
            <p14:sldId id="269"/>
            <p14:sldId id="270"/>
            <p14:sldId id="271"/>
            <p14:sldId id="272"/>
          </p14:sldIdLst>
        </p14:section>
        <p14:section name="5. Thử nghiệm" id="{1BABA285-350D-04F2-0E97-7F4CC78816C7}">
          <p14:sldIdLst>
            <p14:sldId id="273"/>
            <p14:sldId id="274"/>
            <p14:sldId id="275"/>
          </p14:sldIdLst>
        </p14:section>
        <p14:section name="6. Kết luận" id="{7A78FC96-3642-F169-4B8D-CD2DA0C4DEA8}">
          <p14:sldIdLst>
            <p14:sldId id="276"/>
            <p14:sldId id="27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600" b="0" i="0" u="none" strike="noStrike" kern="1200" baseline="0">
                <a:solidFill>
                  <a:srgbClr val="14302A"/>
                </a:solidFill>
                <a:latin typeface="+mn-lt"/>
                <a:ea typeface="+mn-ea"/>
                <a:cs typeface="+mn-cs"/>
              </a:defRPr>
            </a:pPr>
            <a:r>
              <a:rPr sz="1600" b="0" i="0" u="none" strike="noStrike">
                <a:solidFill>
                  <a:srgbClr val="14302A"/>
                </a:solidFill>
                <a:latin typeface="+mn-lt"/>
              </a:rPr>
              <a:t>Độ chính xác (%) theo nhóm ảnh</a:t>
            </a:r>
            <a:endParaRPr sz="1600" b="0" i="0" u="none" strike="noStrike">
              <a:solidFill>
                <a:srgbClr val="14302A"/>
              </a:solidFill>
              <a:latin typeface="+mn-lt"/>
            </a:endParaRPr>
          </a:p>
        </c:rich>
      </c:tx>
      <c:layout/>
      <c:overlay val="0"/>
    </c:title>
    <c:autoTitleDeleted val="0"/>
    <c:plotArea>
      <c:layout/>
      <c:barChart>
        <c:barDir val="col"/>
        <c:grouping val="clustered"/>
        <c:varyColors val="0"/>
        <c:ser>
          <c:idx val="0"/>
          <c:order val="0"/>
          <c:tx>
            <c:strRef>
              <c:f>Sheet1!$B$1</c:f>
              <c:strCache>
                <c:ptCount val="1"/>
                <c:pt idx="0">
                  <c:v>Random Forest</c:v>
                </c:pt>
              </c:strCache>
            </c:strRef>
          </c:tx>
          <c:spPr>
            <a:solidFill>
              <a:srgbClr val="8A9A92"/>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430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Accuracy</c:v>
                </c:pt>
                <c:pt idx="1">
                  <c:v>Acc thanh long</c:v>
                </c:pt>
                <c:pt idx="2">
                  <c:v>Acc PlantDoc</c:v>
                </c:pt>
              </c:strCache>
            </c:strRef>
          </c:cat>
          <c:val>
            <c:numRef>
              <c:f>Sheet1!$B$2:$B$4</c:f>
              <c:numCache>
                <c:formatCode>General</c:formatCode>
                <c:ptCount val="3"/>
                <c:pt idx="0">
                  <c:v>43.32</c:v>
                </c:pt>
                <c:pt idx="1">
                  <c:v>51.28</c:v>
                </c:pt>
                <c:pt idx="2">
                  <c:v>25.33</c:v>
                </c:pt>
              </c:numCache>
            </c:numRef>
          </c:val>
        </c:ser>
        <c:ser>
          <c:idx val="1"/>
          <c:order val="1"/>
          <c:tx>
            <c:strRef>
              <c:f>Sheet1!$C$1</c:f>
              <c:strCache>
                <c:ptCount val="1"/>
                <c:pt idx="0">
                  <c:v>CNN tự xây</c:v>
                </c:pt>
              </c:strCache>
            </c:strRef>
          </c:tx>
          <c:spPr>
            <a:solidFill>
              <a:srgbClr val="E4B23A"/>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430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Accuracy</c:v>
                </c:pt>
                <c:pt idx="1">
                  <c:v>Acc thanh long</c:v>
                </c:pt>
                <c:pt idx="2">
                  <c:v>Acc PlantDoc</c:v>
                </c:pt>
              </c:strCache>
            </c:strRef>
          </c:cat>
          <c:val>
            <c:numRef>
              <c:f>Sheet1!$C$2:$C$4</c:f>
              <c:numCache>
                <c:formatCode>General</c:formatCode>
                <c:ptCount val="3"/>
                <c:pt idx="0">
                  <c:v>54.36</c:v>
                </c:pt>
                <c:pt idx="1">
                  <c:v>58.74</c:v>
                </c:pt>
                <c:pt idx="2">
                  <c:v>44.44</c:v>
                </c:pt>
              </c:numCache>
            </c:numRef>
          </c:val>
        </c:ser>
        <c:ser>
          <c:idx val="2"/>
          <c:order val="2"/>
          <c:tx>
            <c:strRef>
              <c:f>Sheet1!$D$1</c:f>
              <c:strCache>
                <c:ptCount val="1"/>
                <c:pt idx="0">
                  <c:v>ResNet18</c:v>
                </c:pt>
              </c:strCache>
            </c:strRef>
          </c:tx>
          <c:spPr>
            <a:solidFill>
              <a:srgbClr val="C93A6B"/>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430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Accuracy</c:v>
                </c:pt>
                <c:pt idx="1">
                  <c:v>Acc thanh long</c:v>
                </c:pt>
                <c:pt idx="2">
                  <c:v>Acc PlantDoc</c:v>
                </c:pt>
              </c:strCache>
            </c:strRef>
          </c:cat>
          <c:val>
            <c:numRef>
              <c:f>Sheet1!$D$2:$D$4</c:f>
              <c:numCache>
                <c:formatCode>General</c:formatCode>
                <c:ptCount val="3"/>
                <c:pt idx="0">
                  <c:v>58.17</c:v>
                </c:pt>
                <c:pt idx="1">
                  <c:v>64.24</c:v>
                </c:pt>
                <c:pt idx="2">
                  <c:v>44.44</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300" b="0" i="0" u="none" strike="noStrike" kern="1200" baseline="0">
                <a:solidFill>
                  <a:srgbClr val="4B5E57"/>
                </a:solidFill>
                <a:latin typeface="+mn-lt"/>
                <a:ea typeface="+mn-ea"/>
                <a:cs typeface="+mn-cs"/>
              </a:defRPr>
            </a:pPr>
          </a:p>
        </c:txPr>
        <c:crossAx val="2094734552"/>
        <c:crosses val="autoZero"/>
        <c:auto val="1"/>
        <c:lblAlgn val="ctr"/>
        <c:lblOffset val="100"/>
        <c:noMultiLvlLbl val="1"/>
      </c:catAx>
      <c:valAx>
        <c:axId val="2094734552"/>
        <c:scaling>
          <c:orientation val="minMax"/>
          <c:max val="80"/>
          <c:min val="0"/>
        </c:scaling>
        <c:delete val="0"/>
        <c:axPos val="l"/>
        <c:majorGridlines>
          <c:spPr>
            <a:ln w="6350" cap="flat" cmpd="sng" algn="ctr">
              <a:solidFill>
                <a:srgbClr val="D5DDD7"/>
              </a:solidFill>
              <a:prstDash val="solid"/>
              <a:round/>
            </a:ln>
          </c:spPr>
        </c:majorGridlines>
        <c:numFmt formatCode="0"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4B5E57"/>
                </a:solidFill>
                <a:latin typeface="+mn-lt"/>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300" b="0" i="0" u="none" strike="noStrike" kern="1200" baseline="0">
              <a:solidFill>
                <a:srgbClr val="14302A"/>
              </a:solidFill>
              <a:latin typeface="+mn-lt"/>
              <a:ea typeface="+mn-ea"/>
              <a:cs typeface="+mn-lt"/>
            </a:defRPr>
          </a:pPr>
        </a:p>
      </c:txPr>
    </c:legend>
    <c:plotVisOnly val="1"/>
    <c:dispBlanksAs val="span"/>
    <c:showDLblsOverMax val="0"/>
    <c:extLst>
      <c:ext uri="{0b15fc19-7d7d-44ad-8c2d-2c3a37ce22c3}">
        <chartProps xmlns="https://web.wps.cn/et/2018/main" chartId="{0cb6077a-a421-4c7a-88c3-122b5de6943e}"/>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Random Forest</c:v>
                </c:pt>
              </c:strCache>
            </c:strRef>
          </c:tx>
          <c:spPr>
            <a:solidFill>
              <a:srgbClr val="8A9A92"/>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1430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Cuối video (sáng)</c:v>
                </c:pt>
                <c:pt idx="1">
                  <c:v>Cuối video (tối)</c:v>
                </c:pt>
                <c:pt idx="2">
                  <c:v>Video riêng (sáng)</c:v>
                </c:pt>
                <c:pt idx="3">
                  <c:v>Video riêng (tối)</c:v>
                </c:pt>
                <c:pt idx="4">
                  <c:v>PlantDoc</c:v>
                </c:pt>
              </c:strCache>
            </c:strRef>
          </c:cat>
          <c:val>
            <c:numRef>
              <c:f>Sheet1!$B$2:$B$6</c:f>
              <c:numCache>
                <c:formatCode>General</c:formatCode>
                <c:ptCount val="5"/>
                <c:pt idx="0">
                  <c:v>97.4</c:v>
                </c:pt>
                <c:pt idx="1">
                  <c:v>100</c:v>
                </c:pt>
                <c:pt idx="2">
                  <c:v>18.9</c:v>
                </c:pt>
                <c:pt idx="3">
                  <c:v>22.5</c:v>
                </c:pt>
                <c:pt idx="4">
                  <c:v>25.3</c:v>
                </c:pt>
              </c:numCache>
            </c:numRef>
          </c:val>
        </c:ser>
        <c:ser>
          <c:idx val="1"/>
          <c:order val="1"/>
          <c:tx>
            <c:strRef>
              <c:f>Sheet1!$C$1</c:f>
              <c:strCache>
                <c:ptCount val="1"/>
                <c:pt idx="0">
                  <c:v>CNN tự xây</c:v>
                </c:pt>
              </c:strCache>
            </c:strRef>
          </c:tx>
          <c:spPr>
            <a:solidFill>
              <a:srgbClr val="E4B23A"/>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1430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Cuối video (sáng)</c:v>
                </c:pt>
                <c:pt idx="1">
                  <c:v>Cuối video (tối)</c:v>
                </c:pt>
                <c:pt idx="2">
                  <c:v>Video riêng (sáng)</c:v>
                </c:pt>
                <c:pt idx="3">
                  <c:v>Video riêng (tối)</c:v>
                </c:pt>
                <c:pt idx="4">
                  <c:v>PlantDoc</c:v>
                </c:pt>
              </c:strCache>
            </c:strRef>
          </c:cat>
          <c:val>
            <c:numRef>
              <c:f>Sheet1!$C$2:$C$6</c:f>
              <c:numCache>
                <c:formatCode>General</c:formatCode>
                <c:ptCount val="5"/>
                <c:pt idx="0">
                  <c:v>100</c:v>
                </c:pt>
                <c:pt idx="1">
                  <c:v>97.9</c:v>
                </c:pt>
                <c:pt idx="2">
                  <c:v>25</c:v>
                </c:pt>
                <c:pt idx="3">
                  <c:v>38.8</c:v>
                </c:pt>
                <c:pt idx="4">
                  <c:v>44.4</c:v>
                </c:pt>
              </c:numCache>
            </c:numRef>
          </c:val>
        </c:ser>
        <c:ser>
          <c:idx val="2"/>
          <c:order val="2"/>
          <c:tx>
            <c:strRef>
              <c:f>Sheet1!$D$1</c:f>
              <c:strCache>
                <c:ptCount val="1"/>
                <c:pt idx="0">
                  <c:v>ResNet18</c:v>
                </c:pt>
              </c:strCache>
            </c:strRef>
          </c:tx>
          <c:spPr>
            <a:solidFill>
              <a:srgbClr val="C93A6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1430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Cuối video (sáng)</c:v>
                </c:pt>
                <c:pt idx="1">
                  <c:v>Cuối video (tối)</c:v>
                </c:pt>
                <c:pt idx="2">
                  <c:v>Video riêng (sáng)</c:v>
                </c:pt>
                <c:pt idx="3">
                  <c:v>Video riêng (tối)</c:v>
                </c:pt>
                <c:pt idx="4">
                  <c:v>PlantDoc</c:v>
                </c:pt>
              </c:strCache>
            </c:strRef>
          </c:cat>
          <c:val>
            <c:numRef>
              <c:f>Sheet1!$D$2:$D$6</c:f>
              <c:numCache>
                <c:formatCode>General</c:formatCode>
                <c:ptCount val="5"/>
                <c:pt idx="0">
                  <c:v>100</c:v>
                </c:pt>
                <c:pt idx="1">
                  <c:v>95.8</c:v>
                </c:pt>
                <c:pt idx="2">
                  <c:v>47.3</c:v>
                </c:pt>
                <c:pt idx="3">
                  <c:v>36.2</c:v>
                </c:pt>
                <c:pt idx="4">
                  <c:v>44.4</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4B5E57"/>
                </a:solidFill>
                <a:latin typeface="+mn-lt"/>
                <a:ea typeface="+mn-ea"/>
                <a:cs typeface="+mn-cs"/>
              </a:defRPr>
            </a:pPr>
          </a:p>
        </c:txPr>
        <c:crossAx val="2094734552"/>
        <c:crosses val="autoZero"/>
        <c:auto val="1"/>
        <c:lblAlgn val="ctr"/>
        <c:lblOffset val="100"/>
        <c:noMultiLvlLbl val="1"/>
      </c:catAx>
      <c:valAx>
        <c:axId val="2094734552"/>
        <c:scaling>
          <c:orientation val="minMax"/>
          <c:max val="110"/>
          <c:min val="0"/>
        </c:scaling>
        <c:delete val="0"/>
        <c:axPos val="l"/>
        <c:majorGridlines>
          <c:spPr>
            <a:ln w="6350" cap="flat" cmpd="sng" algn="ctr">
              <a:solidFill>
                <a:srgbClr val="D5DDD7"/>
              </a:solidFill>
              <a:prstDash val="solid"/>
              <a:round/>
            </a:ln>
          </c:spPr>
        </c:majorGridlines>
        <c:numFmt formatCode="0"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4B5E57"/>
                </a:solidFill>
                <a:latin typeface="+mn-lt"/>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300" b="0" i="0" u="none" strike="noStrike" kern="1200" baseline="0">
              <a:solidFill>
                <a:srgbClr val="14302A"/>
              </a:solidFill>
              <a:latin typeface="+mn-lt"/>
              <a:ea typeface="+mn-ea"/>
              <a:cs typeface="+mn-lt"/>
            </a:defRPr>
          </a:pPr>
        </a:p>
      </c:txPr>
    </c:legend>
    <c:plotVisOnly val="1"/>
    <c:dispBlanksAs val="span"/>
    <c:showDLblsOverMax val="0"/>
    <c:extLst>
      <c:ext uri="{0b15fc19-7d7d-44ad-8c2d-2c3a37ce22c3}">
        <chartProps xmlns="https://web.wps.cn/et/2018/main" chartId="{defa30f0-0f5d-4df7-ad2e-66f4739f2beb}"/>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500" b="0" i="0" u="none" strike="noStrike" kern="1200" baseline="0">
                <a:solidFill>
                  <a:srgbClr val="14302A"/>
                </a:solidFill>
                <a:latin typeface="+mn-lt"/>
                <a:ea typeface="+mn-ea"/>
                <a:cs typeface="+mn-cs"/>
              </a:defRPr>
            </a:pPr>
            <a:r>
              <a:rPr sz="1500" b="0" i="0" u="none" strike="noStrike">
                <a:solidFill>
                  <a:srgbClr val="14302A"/>
                </a:solidFill>
                <a:latin typeface="+mn-lt"/>
              </a:rPr>
              <a:t>Độ chính xác (%) trên 208 ảnh tối của tập test</a:t>
            </a:r>
            <a:endParaRPr sz="1500" b="0" i="0" u="none" strike="noStrike">
              <a:solidFill>
                <a:srgbClr val="14302A"/>
              </a:solidFill>
              <a:latin typeface="+mn-lt"/>
            </a:endParaRPr>
          </a:p>
        </c:rich>
      </c:tx>
      <c:layout/>
      <c:overlay val="0"/>
    </c:title>
    <c:autoTitleDeleted val="0"/>
    <c:plotArea>
      <c:layout/>
      <c:barChart>
        <c:barDir val="col"/>
        <c:grouping val="clustered"/>
        <c:varyColors val="0"/>
        <c:ser>
          <c:idx val="0"/>
          <c:order val="0"/>
          <c:tx>
            <c:strRef>
              <c:f>Sheet1!$B$1</c:f>
              <c:strCache>
                <c:ptCount val="1"/>
                <c:pt idx="0">
                  <c:v>Có làm sáng</c:v>
                </c:pt>
              </c:strCache>
            </c:strRef>
          </c:tx>
          <c:spPr>
            <a:solidFill>
              <a:srgbClr val="C93A6B"/>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430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Random Forest</c:v>
                </c:pt>
                <c:pt idx="1">
                  <c:v>CNN tự xây</c:v>
                </c:pt>
                <c:pt idx="2">
                  <c:v>ResNet18</c:v>
                </c:pt>
              </c:strCache>
            </c:strRef>
          </c:cat>
          <c:val>
            <c:numRef>
              <c:f>Sheet1!$B$2:$B$4</c:f>
              <c:numCache>
                <c:formatCode>General</c:formatCode>
                <c:ptCount val="3"/>
                <c:pt idx="0">
                  <c:v>40.38</c:v>
                </c:pt>
                <c:pt idx="1">
                  <c:v>52.4</c:v>
                </c:pt>
                <c:pt idx="2">
                  <c:v>50</c:v>
                </c:pt>
              </c:numCache>
            </c:numRef>
          </c:val>
        </c:ser>
        <c:ser>
          <c:idx val="1"/>
          <c:order val="1"/>
          <c:tx>
            <c:strRef>
              <c:f>Sheet1!$C$1</c:f>
              <c:strCache>
                <c:ptCount val="1"/>
                <c:pt idx="0">
                  <c:v>Không làm sáng</c:v>
                </c:pt>
              </c:strCache>
            </c:strRef>
          </c:tx>
          <c:spPr>
            <a:solidFill>
              <a:srgbClr val="8A9A92"/>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14302A"/>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Random Forest</c:v>
                </c:pt>
                <c:pt idx="1">
                  <c:v>CNN tự xây</c:v>
                </c:pt>
                <c:pt idx="2">
                  <c:v>ResNet18</c:v>
                </c:pt>
              </c:strCache>
            </c:strRef>
          </c:cat>
          <c:val>
            <c:numRef>
              <c:f>Sheet1!$C$2:$C$4</c:f>
              <c:numCache>
                <c:formatCode>General</c:formatCode>
                <c:ptCount val="3"/>
                <c:pt idx="0">
                  <c:v>31.73</c:v>
                </c:pt>
                <c:pt idx="1">
                  <c:v>51.44</c:v>
                </c:pt>
                <c:pt idx="2">
                  <c:v>52.88</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300" b="0" i="0" u="none" strike="noStrike" kern="1200" baseline="0">
                <a:solidFill>
                  <a:srgbClr val="4B5E57"/>
                </a:solidFill>
                <a:latin typeface="+mn-lt"/>
                <a:ea typeface="+mn-ea"/>
                <a:cs typeface="+mn-cs"/>
              </a:defRPr>
            </a:pPr>
          </a:p>
        </c:txPr>
        <c:crossAx val="2094734552"/>
        <c:crosses val="autoZero"/>
        <c:auto val="1"/>
        <c:lblAlgn val="ctr"/>
        <c:lblOffset val="100"/>
        <c:noMultiLvlLbl val="1"/>
      </c:catAx>
      <c:valAx>
        <c:axId val="2094734552"/>
        <c:scaling>
          <c:orientation val="minMax"/>
          <c:max val="70"/>
          <c:min val="0"/>
        </c:scaling>
        <c:delete val="0"/>
        <c:axPos val="l"/>
        <c:majorGridlines>
          <c:spPr>
            <a:ln w="6350" cap="flat" cmpd="sng" algn="ctr">
              <a:solidFill>
                <a:srgbClr val="D5DDD7"/>
              </a:solidFill>
              <a:prstDash val="solid"/>
              <a:round/>
            </a:ln>
          </c:spPr>
        </c:majorGridlines>
        <c:numFmt formatCode="0"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4B5E57"/>
                </a:solidFill>
                <a:latin typeface="+mn-lt"/>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300" b="0" i="0" u="none" strike="noStrike" kern="1200" baseline="0">
              <a:solidFill>
                <a:srgbClr val="14302A"/>
              </a:solidFill>
              <a:latin typeface="+mn-lt"/>
              <a:ea typeface="+mn-ea"/>
              <a:cs typeface="+mn-lt"/>
            </a:defRPr>
          </a:pPr>
        </a:p>
      </c:txPr>
    </c:legend>
    <c:plotVisOnly val="1"/>
    <c:dispBlanksAs val="span"/>
    <c:showDLblsOverMax val="0"/>
    <c:extLst>
      <c:ext uri="{0b15fc19-7d7d-44ad-8c2d-2c3a37ce22c3}">
        <chartProps xmlns="https://web.wps.cn/et/2018/main" chartId="{b907ba71-5ee2-477d-b4bb-73e4b190e0a7}"/>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6 xin trình bày đề tài phân loại bệnh cây trồng từ ảnh chụp thực địa, trong đó phần chính là bệnh trên cây thanh long do nhóm tự quay và gán nhãn.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sáu phần theo đúng sáu chương của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thực địa có nền phức tạp và ánh sáng thay đổi, nên khó hơn ảnh phòng thí nghiệm. Thanh long là phần chính vì nhóm trực tiếp quay video tại vườn.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quay 17 video, 9 video ban ngày và 8 video lúc trời tối, cắt khung hình thành ảnh và gán nhãn theo lớp. Kết hợp với 2.555 ảnh của 27 lớp PlantDoc thành 5.195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nhiều ảnh nhất là thanh long khỏe mạnh 653 ảnh, ít nhất là Tomato leaf mosaic virus 54 ảnh trên toàn bộ dữ liệu. Phân bố lệch như vậy nên cần class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 sáng trung bình của ảnh ban ngày vào khoảng 116 trên thang 255, trong khi ảnh tối chỉ khoảng 31. Chính vì vậy nhóm thiết kế bước làm sáng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khung hình liên tiếp của một video rất giống nhau, nếu chia ngẫu nhiên thì ảnh gần như trùng sẽ nằm ở cả train và test, kết quả sẽ cao giả tạo. Vì vậy nhóm chia theo video hoặc theo thời gian trong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pipeline này chạy giống hệt nhau lúc train, lúc kiểm thử và trên ứng dụng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tối thường nhiễu hạt, nên khử nhiễu bằng bilateral trước, sau đó nâng sáng bằng gamma 0,35 rồi cân bằng histogram thích nghi CLAHE trên kênh L của hệ màu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Lần chạy đầu chỉ cắt từ 50% diện tích trở lên, ResNet18 chỉ đúng 21,6% ảnh đốm vàng ở video test riêng. Sau khi cắt nhỏ hơn và xóa một mảng thì mô hình bắt buộc nhìn nhiều chỗ trên cành.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không đọc ảnh trực tiếp mà đọc 154 con số trích xuất thủ công. Tham số tối ưu chọn bằng GridSearchCV trên chính tập validation, vì k-fold ngẫu nhiên sẽ rò rỉ khung hình gần giống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hai mạng được huấn luyện cùng cách để so sánh công bằng: AdamW, OneCycleLR, 40 epoch, giữ trọng số của epoch có macro F1 validation cao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Epoch tốt nhất nằm sát cuối (38 và 39), loss vẫn đang giảm nên mô hình đang underfitting. Loss validation thấp hơn loss train là bình thường vì lúc train có augmentation, label smoothing và dropout.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ba mô hình đều được đánh giá trên cùng tập test 734 ảnh chưa dùng để train hoặc chọn tham số. Học sâu hơn Random Forest 14,9 điểm phần trăm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chịu ảnh hưởng của 509 ảnh thanh long, trong khi macro F1 bị kéo xuống bởi 27 lớp PlantDoc mỗi lớp chỉ có 3 đến 12 ảnh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phát hiện quan trọng nhất của phần đánh giá. Đoạn cuối video đã train gần như giống ảnh train nên điểm cao chủ yếu là nhớ cảnh. Với video chưa thấy bao giờ, ResNet18 chỉ đúng 47,3% ở ảnh sáng.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lớn nhất là khỏe mạnh quay tối thanhlong13 bị đoán thành đốm dây 64 ảnh. Lá PlantDoc hầu như không bị đoán thành thanh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quả không giống dự đoán ban đầu của nhóm. Làm sáng giúp Random Forest nhiều nhất vì đặc trưng màu phụ thuộc độ sáng. Với ResNet18 lại thấp hơn một chút. Nguyên nhân sâu hơn là thiếu video tối ở nhiều cành.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video lấy 60 khung hình, dự đoán từng khung rồi lấy trung bình xác suất. thanhlong9 và thanhlong18 đúng, thanhlong10 và thanhlong13 sai. Mỗi video xử lý khoảng 19 đến 20 giây trên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giao diện web được nhóm phát triển riêng. Bên web chỉ cần TorchScript hoặc ONNX và predict.py đã có sẵn bước tiền xử lý, chạy thử khớp notebook 29 trên 30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đáng giá nhất của đề tài là đánh giá trung thực theo video. Hạn chế chính là dữ liệu thanh long còn ít video cho mỗi lớp, đặc biệt video tối.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cảm ơn thầy cô và các bạn đã lắng nghe. Nhóm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640080" y="2011680"/>
            <a:ext cx="10881360" cy="1737360"/>
          </a:xfrm>
          <a:prstGeom prst="rect">
            <a:avLst/>
          </a:prstGeom>
          <a:noFill/>
        </p:spPr>
        <p:txBody>
          <a:bodyPr wrap="square" rtlCol="0"/>
          <a:lstStyle>
            <a:lvl1pPr marL="0" indent="0" algn="l">
              <a:buNone/>
              <a:defRPr lang="en-US" sz="4600" b="1" dirty="0">
                <a:solidFill>
                  <a:schemeClr val="bg1"/>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rtlCol="0"/>
          <a:lstStyle>
            <a:lvl1pPr marL="0" indent="0" algn="l">
              <a:buNone/>
              <a:def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3200" dirty="0"/>
          </a:p>
        </p:txBody>
      </p:sp>
      <p:sp>
        <p:nvSpPr>
          <p:cNvPr id="3" name="Text 0"/>
          <p:cNvSpPr/>
          <p:nvPr/>
        </p:nvSpPr>
        <p:spPr>
          <a:xfrm>
            <a:off x="640080" y="6400800"/>
            <a:ext cx="8229600" cy="274320"/>
          </a:xfrm>
          <a:prstGeom prst="rect">
            <a:avLst/>
          </a:prstGeom>
          <a:noFill/>
        </p:spPr>
        <p:txBody>
          <a:bodyPr wrap="square" lIns="0" tIns="0" rIns="0" bIns="0" rtlCol="0" anchor="ctr"/>
          <a:lstStyle/>
          <a:p>
            <a:pPr marL="0" indent="0">
              <a:buNone/>
            </a:pPr>
            <a:r>
              <a:rPr lang="en-US" sz="1100" dirty="0">
                <a:solidFill>
                  <a:schemeClr val="accent5"/>
                </a:solidFill>
                <a:latin typeface="Calibri" panose="020F0502020204030204" pitchFamily="34" charset="0"/>
                <a:ea typeface="Calibri" panose="020F0502020204030204" pitchFamily="34" charset="-122"/>
                <a:cs typeface="Calibri" panose="020F0502020204030204" pitchFamily="34" charset="-120"/>
              </a:rPr>
              <a:t>Nhóm 6 · Khai phá dữ liệu · Phân loại bệnh cây trồng từ ảnh thực địa</a:t>
            </a:r>
            <a:endParaRPr lang="en-US" sz="11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LT">
    <p:bg>
      <p:bgPr>
        <a:solidFill>
          <a:schemeClr val="bg2"/>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rtlCol="0"/>
          <a:lstStyle>
            <a:lvl1pPr marL="0" indent="0" algn="l">
              <a:buNone/>
              <a:def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3200" dirty="0"/>
          </a:p>
        </p:txBody>
      </p:sp>
      <p:sp>
        <p:nvSpPr>
          <p:cNvPr id="3" name="Text 0"/>
          <p:cNvSpPr/>
          <p:nvPr/>
        </p:nvSpPr>
        <p:spPr>
          <a:xfrm>
            <a:off x="640080" y="6400800"/>
            <a:ext cx="8229600" cy="274320"/>
          </a:xfrm>
          <a:prstGeom prst="rect">
            <a:avLst/>
          </a:prstGeom>
          <a:noFill/>
        </p:spPr>
        <p:txBody>
          <a:bodyPr wrap="square" lIns="0" tIns="0" rIns="0" bIns="0" rtlCol="0" anchor="ctr"/>
          <a:lstStyle/>
          <a:p>
            <a:pPr marL="0" indent="0">
              <a:buNone/>
            </a:pPr>
            <a:r>
              <a:rPr lang="en-US" sz="1100" dirty="0">
                <a:solidFill>
                  <a:schemeClr val="accent5"/>
                </a:solidFill>
                <a:latin typeface="Calibri" panose="020F0502020204030204" pitchFamily="34" charset="0"/>
                <a:ea typeface="Calibri" panose="020F0502020204030204" pitchFamily="34" charset="-122"/>
                <a:cs typeface="Calibri" panose="020F0502020204030204" pitchFamily="34" charset="-120"/>
              </a:rPr>
              <a:t>Nhóm 6 · Khai phá dữ liệu · Phân loại bệnh cây trồng từ ảnh thực địa</a:t>
            </a:r>
            <a:endParaRPr lang="en-US" sz="11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4.jpe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chart" Target="../charts/char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chart" Target="../charts/char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1097280"/>
            <a:ext cx="8229600" cy="365760"/>
          </a:xfrm>
          <a:prstGeom prst="rect">
            <a:avLst/>
          </a:prstGeom>
          <a:noFill/>
        </p:spPr>
        <p:txBody>
          <a:bodyPr wrap="square" lIns="0" tIns="0" rIns="0" bIns="0" rtlCol="0" anchor="t"/>
          <a:lstStyle/>
          <a:p>
            <a:pPr marL="0" indent="0">
              <a:buNone/>
            </a:pPr>
            <a:r>
              <a:rPr lang="en-US" sz="1600" b="1" kern="0" spc="300" dirty="0">
                <a:solidFill>
                  <a:schemeClr val="accent2"/>
                </a:solidFill>
                <a:latin typeface="Calibri" panose="020F0502020204030204" pitchFamily="34" charset="0"/>
                <a:ea typeface="Calibri" panose="020F0502020204030204" pitchFamily="34" charset="-122"/>
                <a:cs typeface="Calibri" panose="020F0502020204030204" pitchFamily="34" charset="-120"/>
              </a:rPr>
              <a:t>KHAI PHÁ DỮ LIỆU · NHÓM 6</a:t>
            </a:r>
            <a:endParaRPr lang="en-US" sz="1600" dirty="0"/>
          </a:p>
        </p:txBody>
      </p:sp>
      <p:sp>
        <p:nvSpPr>
          <p:cNvPr id="3" name="Text 0"/>
          <p:cNvSpPr/>
          <p:nvPr>
            <p:ph type="title" idx="100" hasCustomPrompt="1"/>
          </p:nvPr>
        </p:nvSpPr>
        <p:spPr>
          <a:xfrm>
            <a:off x="640080" y="2011680"/>
            <a:ext cx="10881360" cy="1737360"/>
          </a:xfrm>
          <a:prstGeom prst="rect">
            <a:avLst/>
          </a:prstGeom>
          <a:noFill/>
        </p:spPr>
        <p:txBody>
          <a:bodyPr wrap="square" lIns="0" tIns="0" rIns="0" bIns="0" rtlCol="0" anchor="t"/>
          <a:lstStyle/>
          <a:p>
            <a:pPr marL="0" indent="0" algn="l">
              <a:buNone/>
            </a:pPr>
            <a:r>
              <a:rPr lang="en-US" sz="4600" b="1" dirty="0">
                <a:solidFill>
                  <a:schemeClr val="bg1"/>
                </a:solidFill>
                <a:latin typeface="Cambria" panose="02040503050406030204" pitchFamily="34" charset="0"/>
                <a:ea typeface="Cambria" panose="02040503050406030204" pitchFamily="34" charset="-122"/>
                <a:cs typeface="Cambria" panose="02040503050406030204" pitchFamily="34" charset="-120"/>
              </a:rPr>
              <a:t>Phân loại bệnh cây trồng từ ảnh chụp thực địa (thanh long và PlantDoc)</a:t>
            </a:r>
            <a:endParaRPr lang="en-US" sz="4600" dirty="0"/>
          </a:p>
        </p:txBody>
      </p:sp>
      <p:sp>
        <p:nvSpPr>
          <p:cNvPr id="4" name="Text 2"/>
          <p:cNvSpPr txBox="1"/>
          <p:nvPr/>
        </p:nvSpPr>
        <p:spPr>
          <a:xfrm>
            <a:off x="640080" y="3977640"/>
            <a:ext cx="10058400" cy="457200"/>
          </a:xfrm>
          <a:prstGeom prst="rect">
            <a:avLst/>
          </a:prstGeom>
          <a:noFill/>
        </p:spPr>
        <p:txBody>
          <a:bodyPr wrap="square" lIns="0" tIns="0" rIns="0" bIns="0" rtlCol="0" anchor="t"/>
          <a:lstStyle/>
          <a:p>
            <a:pPr marL="0" indent="0">
              <a:buNone/>
            </a:pPr>
            <a:r>
              <a:rPr lang="en-US" sz="2000" dirty="0">
                <a:solidFill>
                  <a:srgbClr val="BFD6CC"/>
                </a:solidFill>
                <a:latin typeface="Calibri" panose="020F0502020204030204" pitchFamily="34" charset="0"/>
                <a:ea typeface="Calibri" panose="020F0502020204030204" pitchFamily="34" charset="-122"/>
                <a:cs typeface="Calibri" panose="020F0502020204030204" pitchFamily="34" charset="-120"/>
              </a:rPr>
              <a:t>Random Forest, CNN tự xây và ResNet18 trên bộ dữ liệu 33 lớp, 5.195 ảnh</a:t>
            </a:r>
            <a:endParaRPr lang="en-US" sz="2000" dirty="0"/>
          </a:p>
        </p:txBody>
      </p:sp>
      <p:sp>
        <p:nvSpPr>
          <p:cNvPr id="5" name="Text 3"/>
          <p:cNvSpPr txBox="1"/>
          <p:nvPr/>
        </p:nvSpPr>
        <p:spPr>
          <a:xfrm>
            <a:off x="640080" y="5212080"/>
            <a:ext cx="10058400" cy="822960"/>
          </a:xfrm>
          <a:prstGeom prst="rect">
            <a:avLst/>
          </a:prstGeom>
          <a:noFill/>
        </p:spPr>
        <p:txBody>
          <a:bodyPr wrap="square" lIns="0" tIns="0" rIns="0" bIns="0" rtlCol="0" anchor="t"/>
          <a:lstStyle/>
          <a:p>
            <a:pPr marL="0" indent="0">
              <a:spcAft>
                <a:spcPts val="400"/>
              </a:spcAft>
              <a:buNone/>
            </a:pPr>
            <a:r>
              <a:rPr lang="en-US" sz="1600" dirty="0">
                <a:solidFill>
                  <a:srgbClr val="BFD6CC"/>
                </a:solidFill>
                <a:latin typeface="Calibri" panose="020F0502020204030204" pitchFamily="34" charset="0"/>
                <a:ea typeface="Calibri" panose="020F0502020204030204" pitchFamily="34" charset="-122"/>
                <a:cs typeface="Calibri" panose="020F0502020204030204" pitchFamily="34" charset="-120"/>
              </a:rPr>
              <a:t>Lê Trí Thiện · Đặng Anh Tường · Nguyễn Tuấn Minh</a:t>
            </a:r>
            <a:endParaRPr lang="en-US" sz="1600" dirty="0"/>
          </a:p>
          <a:p>
            <a:pPr marL="0" indent="0">
              <a:spcAft>
                <a:spcPts val="400"/>
              </a:spcAft>
              <a:buNone/>
            </a:pPr>
            <a:r>
              <a:rPr lang="en-US" sz="1600" dirty="0">
                <a:solidFill>
                  <a:srgbClr val="BFD6CC"/>
                </a:solidFill>
                <a:latin typeface="Calibri" panose="020F0502020204030204" pitchFamily="34" charset="0"/>
                <a:ea typeface="Calibri" panose="020F0502020204030204" pitchFamily="34" charset="-122"/>
                <a:cs typeface="Calibri" panose="020F0502020204030204" pitchFamily="34" charset="-120"/>
              </a:rPr>
              <a:t>GVHD: Vũ Thị Hạnh · Lớp S26-K65CNTT · Trường Đại học Thủy Lợi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Nội dung trình bày</a:t>
            </a:r>
            <a:endParaRPr lang="en-US" sz="3200" dirty="0"/>
          </a:p>
        </p:txBody>
      </p:sp>
      <p:sp>
        <p:nvSpPr>
          <p:cNvPr id="4" name="agenda-card"/>
          <p:cNvSpPr/>
          <p:nvPr/>
        </p:nvSpPr>
        <p:spPr>
          <a:xfrm>
            <a:off x="640080" y="1645920"/>
            <a:ext cx="5303520" cy="1280160"/>
          </a:xfrm>
          <a:prstGeom prst="roundRect">
            <a:avLst>
              <a:gd name="adj" fmla="val 8571"/>
            </a:avLst>
          </a:prstGeom>
          <a:solidFill>
            <a:schemeClr val="bg2"/>
          </a:solidFill>
        </p:spPr>
      </p:sp>
      <p:sp>
        <p:nvSpPr>
          <p:cNvPr id="5" name="agenda-num"/>
          <p:cNvSpPr/>
          <p:nvPr/>
        </p:nvSpPr>
        <p:spPr>
          <a:xfrm>
            <a:off x="914400" y="1965960"/>
            <a:ext cx="640080" cy="640080"/>
          </a:xfrm>
          <a:prstGeom prst="ellipse">
            <a:avLst/>
          </a:prstGeom>
          <a:solidFill>
            <a:schemeClr val="accent1"/>
          </a:solidFill>
        </p:spPr>
      </p:sp>
      <p:sp>
        <p:nvSpPr>
          <p:cNvPr id="6" name="Text 3"/>
          <p:cNvSpPr txBox="1"/>
          <p:nvPr/>
        </p:nvSpPr>
        <p:spPr>
          <a:xfrm>
            <a:off x="914400" y="1965960"/>
            <a:ext cx="640080" cy="640080"/>
          </a:xfrm>
          <a:prstGeom prst="rect">
            <a:avLst/>
          </a:prstGeom>
          <a:noFill/>
        </p:spPr>
        <p:txBody>
          <a:bodyPr wrap="square" lIns="0" tIns="0" rIns="0" bIns="0" rtlCol="0" anchor="ctr"/>
          <a:lstStyle/>
          <a:p>
            <a:pPr marL="0" indent="0" algn="ctr">
              <a:buNone/>
            </a:pPr>
            <a:r>
              <a:rPr lang="en-US" sz="2200" b="1" dirty="0">
                <a:solidFill>
                  <a:schemeClr val="bg1"/>
                </a:solidFill>
                <a:latin typeface="Cambria" panose="02040503050406030204" pitchFamily="34" charset="0"/>
                <a:ea typeface="Cambria" panose="02040503050406030204" pitchFamily="34" charset="-122"/>
                <a:cs typeface="Cambria" panose="02040503050406030204" pitchFamily="34" charset="-120"/>
              </a:rPr>
              <a:t>1</a:t>
            </a:r>
            <a:endParaRPr lang="en-US" sz="2200" dirty="0"/>
          </a:p>
        </p:txBody>
      </p:sp>
      <p:sp>
        <p:nvSpPr>
          <p:cNvPr id="7" name="Text 4"/>
          <p:cNvSpPr txBox="1"/>
          <p:nvPr/>
        </p:nvSpPr>
        <p:spPr>
          <a:xfrm>
            <a:off x="1737360" y="1847088"/>
            <a:ext cx="4023360" cy="411480"/>
          </a:xfrm>
          <a:prstGeom prst="rect">
            <a:avLst/>
          </a:prstGeom>
          <a:noFill/>
        </p:spPr>
        <p:txBody>
          <a:bodyPr wrap="square" lIns="0" tIns="0" rIns="0" bIns="0" rtlCol="0" anchor="t"/>
          <a:lstStyle/>
          <a:p>
            <a:pPr marL="0" indent="0">
              <a:buNone/>
            </a:pPr>
            <a:r>
              <a:rPr lang="en-US" sz="2200" b="1" dirty="0">
                <a:solidFill>
                  <a:schemeClr val="tx1"/>
                </a:solidFill>
                <a:latin typeface="Cambria" panose="02040503050406030204" pitchFamily="34" charset="0"/>
                <a:ea typeface="Cambria" panose="02040503050406030204" pitchFamily="34" charset="-122"/>
                <a:cs typeface="Cambria" panose="02040503050406030204" pitchFamily="34" charset="-120"/>
              </a:rPr>
              <a:t>Dữ liệu</a:t>
            </a:r>
            <a:endParaRPr lang="en-US" sz="2200" dirty="0"/>
          </a:p>
        </p:txBody>
      </p:sp>
      <p:sp>
        <p:nvSpPr>
          <p:cNvPr id="8" name="Text 5"/>
          <p:cNvSpPr txBox="1"/>
          <p:nvPr/>
        </p:nvSpPr>
        <p:spPr>
          <a:xfrm>
            <a:off x="1737360" y="2304288"/>
            <a:ext cx="4023360" cy="54864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Thu thập thanh long, PlantDoc, phân bố 33 lớp</a:t>
            </a:r>
            <a:endParaRPr lang="en-US" sz="1600" dirty="0"/>
          </a:p>
        </p:txBody>
      </p:sp>
      <p:sp>
        <p:nvSpPr>
          <p:cNvPr id="9" name="agenda-card"/>
          <p:cNvSpPr/>
          <p:nvPr/>
        </p:nvSpPr>
        <p:spPr>
          <a:xfrm>
            <a:off x="6217920" y="1645920"/>
            <a:ext cx="5303520" cy="1280160"/>
          </a:xfrm>
          <a:prstGeom prst="roundRect">
            <a:avLst>
              <a:gd name="adj" fmla="val 8571"/>
            </a:avLst>
          </a:prstGeom>
          <a:solidFill>
            <a:schemeClr val="bg2"/>
          </a:solidFill>
        </p:spPr>
      </p:sp>
      <p:sp>
        <p:nvSpPr>
          <p:cNvPr id="10" name="agenda-num"/>
          <p:cNvSpPr/>
          <p:nvPr/>
        </p:nvSpPr>
        <p:spPr>
          <a:xfrm>
            <a:off x="6492240" y="1965960"/>
            <a:ext cx="640080" cy="640080"/>
          </a:xfrm>
          <a:prstGeom prst="ellipse">
            <a:avLst/>
          </a:prstGeom>
          <a:solidFill>
            <a:schemeClr val="accent1"/>
          </a:solidFill>
        </p:spPr>
      </p:sp>
      <p:sp>
        <p:nvSpPr>
          <p:cNvPr id="11" name="Text 8"/>
          <p:cNvSpPr txBox="1"/>
          <p:nvPr/>
        </p:nvSpPr>
        <p:spPr>
          <a:xfrm>
            <a:off x="6492240" y="1965960"/>
            <a:ext cx="640080" cy="640080"/>
          </a:xfrm>
          <a:prstGeom prst="rect">
            <a:avLst/>
          </a:prstGeom>
          <a:noFill/>
        </p:spPr>
        <p:txBody>
          <a:bodyPr wrap="square" lIns="0" tIns="0" rIns="0" bIns="0" rtlCol="0" anchor="ctr"/>
          <a:lstStyle/>
          <a:p>
            <a:pPr marL="0" indent="0" algn="ctr">
              <a:buNone/>
            </a:pPr>
            <a:r>
              <a:rPr lang="en-US" sz="2200" b="1" dirty="0">
                <a:solidFill>
                  <a:schemeClr val="bg1"/>
                </a:solidFill>
                <a:latin typeface="Cambria" panose="02040503050406030204" pitchFamily="34" charset="0"/>
                <a:ea typeface="Cambria" panose="02040503050406030204" pitchFamily="34" charset="-122"/>
                <a:cs typeface="Cambria" panose="02040503050406030204" pitchFamily="34" charset="-120"/>
              </a:rPr>
              <a:t>2</a:t>
            </a:r>
            <a:endParaRPr lang="en-US" sz="2200" dirty="0"/>
          </a:p>
        </p:txBody>
      </p:sp>
      <p:sp>
        <p:nvSpPr>
          <p:cNvPr id="12" name="Text 9"/>
          <p:cNvSpPr txBox="1"/>
          <p:nvPr/>
        </p:nvSpPr>
        <p:spPr>
          <a:xfrm>
            <a:off x="7315200" y="1847088"/>
            <a:ext cx="4023360" cy="411480"/>
          </a:xfrm>
          <a:prstGeom prst="rect">
            <a:avLst/>
          </a:prstGeom>
          <a:noFill/>
        </p:spPr>
        <p:txBody>
          <a:bodyPr wrap="square" lIns="0" tIns="0" rIns="0" bIns="0" rtlCol="0" anchor="t"/>
          <a:lstStyle/>
          <a:p>
            <a:pPr marL="0" indent="0">
              <a:buNone/>
            </a:pPr>
            <a:r>
              <a:rPr lang="en-US" sz="2200" b="1" dirty="0">
                <a:solidFill>
                  <a:schemeClr val="tx1"/>
                </a:solidFill>
                <a:latin typeface="Cambria" panose="02040503050406030204" pitchFamily="34" charset="0"/>
                <a:ea typeface="Cambria" panose="02040503050406030204" pitchFamily="34" charset="-122"/>
                <a:cs typeface="Cambria" panose="02040503050406030204" pitchFamily="34" charset="-120"/>
              </a:rPr>
              <a:t>Tiền xử lý</a:t>
            </a:r>
            <a:endParaRPr lang="en-US" sz="2200" dirty="0"/>
          </a:p>
        </p:txBody>
      </p:sp>
      <p:sp>
        <p:nvSpPr>
          <p:cNvPr id="13" name="Text 10"/>
          <p:cNvSpPr txBox="1"/>
          <p:nvPr/>
        </p:nvSpPr>
        <p:spPr>
          <a:xfrm>
            <a:off x="7315200" y="2304288"/>
            <a:ext cx="4023360" cy="54864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Chia tập theo video, làm sáng ảnh tối, augmentation</a:t>
            </a:r>
            <a:endParaRPr lang="en-US" sz="1600" dirty="0"/>
          </a:p>
        </p:txBody>
      </p:sp>
      <p:sp>
        <p:nvSpPr>
          <p:cNvPr id="14" name="agenda-card"/>
          <p:cNvSpPr/>
          <p:nvPr/>
        </p:nvSpPr>
        <p:spPr>
          <a:xfrm>
            <a:off x="640080" y="3154680"/>
            <a:ext cx="5303520" cy="1280160"/>
          </a:xfrm>
          <a:prstGeom prst="roundRect">
            <a:avLst>
              <a:gd name="adj" fmla="val 8571"/>
            </a:avLst>
          </a:prstGeom>
          <a:solidFill>
            <a:schemeClr val="bg2"/>
          </a:solidFill>
        </p:spPr>
      </p:sp>
      <p:sp>
        <p:nvSpPr>
          <p:cNvPr id="15" name="agenda-num"/>
          <p:cNvSpPr/>
          <p:nvPr/>
        </p:nvSpPr>
        <p:spPr>
          <a:xfrm>
            <a:off x="914400" y="3474720"/>
            <a:ext cx="640080" cy="640080"/>
          </a:xfrm>
          <a:prstGeom prst="ellipse">
            <a:avLst/>
          </a:prstGeom>
          <a:solidFill>
            <a:schemeClr val="accent1"/>
          </a:solidFill>
        </p:spPr>
      </p:sp>
      <p:sp>
        <p:nvSpPr>
          <p:cNvPr id="16" name="Text 13"/>
          <p:cNvSpPr txBox="1"/>
          <p:nvPr/>
        </p:nvSpPr>
        <p:spPr>
          <a:xfrm>
            <a:off x="914400" y="3474720"/>
            <a:ext cx="640080" cy="640080"/>
          </a:xfrm>
          <a:prstGeom prst="rect">
            <a:avLst/>
          </a:prstGeom>
          <a:noFill/>
        </p:spPr>
        <p:txBody>
          <a:bodyPr wrap="square" lIns="0" tIns="0" rIns="0" bIns="0" rtlCol="0" anchor="ctr"/>
          <a:lstStyle/>
          <a:p>
            <a:pPr marL="0" indent="0" algn="ctr">
              <a:buNone/>
            </a:pPr>
            <a:r>
              <a:rPr lang="en-US" sz="2200" b="1" dirty="0">
                <a:solidFill>
                  <a:schemeClr val="bg1"/>
                </a:solidFill>
                <a:latin typeface="Cambria" panose="02040503050406030204" pitchFamily="34" charset="0"/>
                <a:ea typeface="Cambria" panose="02040503050406030204" pitchFamily="34" charset="-122"/>
                <a:cs typeface="Cambria" panose="02040503050406030204" pitchFamily="34" charset="-120"/>
              </a:rPr>
              <a:t>3</a:t>
            </a:r>
            <a:endParaRPr lang="en-US" sz="2200" dirty="0"/>
          </a:p>
        </p:txBody>
      </p:sp>
      <p:sp>
        <p:nvSpPr>
          <p:cNvPr id="17" name="Text 14"/>
          <p:cNvSpPr txBox="1"/>
          <p:nvPr/>
        </p:nvSpPr>
        <p:spPr>
          <a:xfrm>
            <a:off x="1737360" y="3355848"/>
            <a:ext cx="4023360" cy="411480"/>
          </a:xfrm>
          <a:prstGeom prst="rect">
            <a:avLst/>
          </a:prstGeom>
          <a:noFill/>
        </p:spPr>
        <p:txBody>
          <a:bodyPr wrap="square" lIns="0" tIns="0" rIns="0" bIns="0" rtlCol="0" anchor="t"/>
          <a:lstStyle/>
          <a:p>
            <a:pPr marL="0" indent="0">
              <a:buNone/>
            </a:pPr>
            <a:r>
              <a:rPr lang="en-US" sz="2200" b="1" dirty="0">
                <a:solidFill>
                  <a:schemeClr val="tx1"/>
                </a:solidFill>
                <a:latin typeface="Cambria" panose="02040503050406030204" pitchFamily="34" charset="0"/>
                <a:ea typeface="Cambria" panose="02040503050406030204" pitchFamily="34" charset="-122"/>
                <a:cs typeface="Cambria" panose="02040503050406030204" pitchFamily="34" charset="-120"/>
              </a:rPr>
              <a:t>Mô hình</a:t>
            </a:r>
            <a:endParaRPr lang="en-US" sz="2200" dirty="0"/>
          </a:p>
        </p:txBody>
      </p:sp>
      <p:sp>
        <p:nvSpPr>
          <p:cNvPr id="18" name="Text 15"/>
          <p:cNvSpPr txBox="1"/>
          <p:nvPr/>
        </p:nvSpPr>
        <p:spPr>
          <a:xfrm>
            <a:off x="1737360" y="3813048"/>
            <a:ext cx="4023360" cy="54864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Random Forest, CNN tự xây, ResNet18</a:t>
            </a:r>
            <a:endParaRPr lang="en-US" sz="1600" dirty="0"/>
          </a:p>
        </p:txBody>
      </p:sp>
      <p:sp>
        <p:nvSpPr>
          <p:cNvPr id="19" name="agenda-card"/>
          <p:cNvSpPr/>
          <p:nvPr/>
        </p:nvSpPr>
        <p:spPr>
          <a:xfrm>
            <a:off x="6217920" y="3154680"/>
            <a:ext cx="5303520" cy="1280160"/>
          </a:xfrm>
          <a:prstGeom prst="roundRect">
            <a:avLst>
              <a:gd name="adj" fmla="val 8571"/>
            </a:avLst>
          </a:prstGeom>
          <a:solidFill>
            <a:schemeClr val="bg2"/>
          </a:solidFill>
        </p:spPr>
      </p:sp>
      <p:sp>
        <p:nvSpPr>
          <p:cNvPr id="20" name="agenda-num"/>
          <p:cNvSpPr/>
          <p:nvPr/>
        </p:nvSpPr>
        <p:spPr>
          <a:xfrm>
            <a:off x="6492240" y="3474720"/>
            <a:ext cx="640080" cy="640080"/>
          </a:xfrm>
          <a:prstGeom prst="ellipse">
            <a:avLst/>
          </a:prstGeom>
          <a:solidFill>
            <a:schemeClr val="accent1"/>
          </a:solidFill>
        </p:spPr>
      </p:sp>
      <p:sp>
        <p:nvSpPr>
          <p:cNvPr id="21" name="Text 18"/>
          <p:cNvSpPr txBox="1"/>
          <p:nvPr/>
        </p:nvSpPr>
        <p:spPr>
          <a:xfrm>
            <a:off x="6492240" y="3474720"/>
            <a:ext cx="640080" cy="640080"/>
          </a:xfrm>
          <a:prstGeom prst="rect">
            <a:avLst/>
          </a:prstGeom>
          <a:noFill/>
        </p:spPr>
        <p:txBody>
          <a:bodyPr wrap="square" lIns="0" tIns="0" rIns="0" bIns="0" rtlCol="0" anchor="ctr"/>
          <a:lstStyle/>
          <a:p>
            <a:pPr marL="0" indent="0" algn="ctr">
              <a:buNone/>
            </a:pPr>
            <a:r>
              <a:rPr lang="en-US" sz="2200" b="1" dirty="0">
                <a:solidFill>
                  <a:schemeClr val="bg1"/>
                </a:solidFill>
                <a:latin typeface="Cambria" panose="02040503050406030204" pitchFamily="34" charset="0"/>
                <a:ea typeface="Cambria" panose="02040503050406030204" pitchFamily="34" charset="-122"/>
                <a:cs typeface="Cambria" panose="02040503050406030204" pitchFamily="34" charset="-120"/>
              </a:rPr>
              <a:t>4</a:t>
            </a:r>
            <a:endParaRPr lang="en-US" sz="2200" dirty="0"/>
          </a:p>
        </p:txBody>
      </p:sp>
      <p:sp>
        <p:nvSpPr>
          <p:cNvPr id="22" name="Text 19"/>
          <p:cNvSpPr txBox="1"/>
          <p:nvPr/>
        </p:nvSpPr>
        <p:spPr>
          <a:xfrm>
            <a:off x="7315200" y="3355848"/>
            <a:ext cx="4023360" cy="411480"/>
          </a:xfrm>
          <a:prstGeom prst="rect">
            <a:avLst/>
          </a:prstGeom>
          <a:noFill/>
        </p:spPr>
        <p:txBody>
          <a:bodyPr wrap="square" lIns="0" tIns="0" rIns="0" bIns="0" rtlCol="0" anchor="t"/>
          <a:lstStyle/>
          <a:p>
            <a:pPr marL="0" indent="0">
              <a:buNone/>
            </a:pPr>
            <a:r>
              <a:rPr lang="en-US" sz="2200" b="1" dirty="0">
                <a:solidFill>
                  <a:schemeClr val="tx1"/>
                </a:solidFill>
                <a:latin typeface="Cambria" panose="02040503050406030204" pitchFamily="34" charset="0"/>
                <a:ea typeface="Cambria" panose="02040503050406030204" pitchFamily="34" charset="-122"/>
                <a:cs typeface="Cambria" panose="02040503050406030204" pitchFamily="34" charset="-120"/>
              </a:rPr>
              <a:t>Kết quả</a:t>
            </a:r>
            <a:endParaRPr lang="en-US" sz="2200" dirty="0"/>
          </a:p>
        </p:txBody>
      </p:sp>
      <p:sp>
        <p:nvSpPr>
          <p:cNvPr id="23" name="Text 20"/>
          <p:cNvSpPr txBox="1"/>
          <p:nvPr/>
        </p:nvSpPr>
        <p:spPr>
          <a:xfrm>
            <a:off x="7315200" y="3813048"/>
            <a:ext cx="4023360" cy="54864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So sánh ba mô hình, đánh giá theo video, ma trận nhầm lẫn</a:t>
            </a:r>
            <a:endParaRPr lang="en-US" sz="1600" dirty="0"/>
          </a:p>
        </p:txBody>
      </p:sp>
      <p:sp>
        <p:nvSpPr>
          <p:cNvPr id="24" name="agenda-card"/>
          <p:cNvSpPr/>
          <p:nvPr/>
        </p:nvSpPr>
        <p:spPr>
          <a:xfrm>
            <a:off x="640080" y="4663440"/>
            <a:ext cx="5303520" cy="1280160"/>
          </a:xfrm>
          <a:prstGeom prst="roundRect">
            <a:avLst>
              <a:gd name="adj" fmla="val 8571"/>
            </a:avLst>
          </a:prstGeom>
          <a:solidFill>
            <a:schemeClr val="bg2"/>
          </a:solidFill>
        </p:spPr>
      </p:sp>
      <p:sp>
        <p:nvSpPr>
          <p:cNvPr id="25" name="agenda-num"/>
          <p:cNvSpPr/>
          <p:nvPr/>
        </p:nvSpPr>
        <p:spPr>
          <a:xfrm>
            <a:off x="914400" y="4983480"/>
            <a:ext cx="640080" cy="640080"/>
          </a:xfrm>
          <a:prstGeom prst="ellipse">
            <a:avLst/>
          </a:prstGeom>
          <a:solidFill>
            <a:schemeClr val="accent1"/>
          </a:solidFill>
        </p:spPr>
      </p:sp>
      <p:sp>
        <p:nvSpPr>
          <p:cNvPr id="26" name="Text 23"/>
          <p:cNvSpPr txBox="1"/>
          <p:nvPr/>
        </p:nvSpPr>
        <p:spPr>
          <a:xfrm>
            <a:off x="914400" y="4983480"/>
            <a:ext cx="640080" cy="640080"/>
          </a:xfrm>
          <a:prstGeom prst="rect">
            <a:avLst/>
          </a:prstGeom>
          <a:noFill/>
        </p:spPr>
        <p:txBody>
          <a:bodyPr wrap="square" lIns="0" tIns="0" rIns="0" bIns="0" rtlCol="0" anchor="ctr"/>
          <a:lstStyle/>
          <a:p>
            <a:pPr marL="0" indent="0" algn="ctr">
              <a:buNone/>
            </a:pPr>
            <a:r>
              <a:rPr lang="en-US" sz="2200" b="1" dirty="0">
                <a:solidFill>
                  <a:schemeClr val="bg1"/>
                </a:solidFill>
                <a:latin typeface="Cambria" panose="02040503050406030204" pitchFamily="34" charset="0"/>
                <a:ea typeface="Cambria" panose="02040503050406030204" pitchFamily="34" charset="-122"/>
                <a:cs typeface="Cambria" panose="02040503050406030204" pitchFamily="34" charset="-120"/>
              </a:rPr>
              <a:t>5</a:t>
            </a:r>
            <a:endParaRPr lang="en-US" sz="2200" dirty="0"/>
          </a:p>
        </p:txBody>
      </p:sp>
      <p:sp>
        <p:nvSpPr>
          <p:cNvPr id="27" name="Text 24"/>
          <p:cNvSpPr txBox="1"/>
          <p:nvPr/>
        </p:nvSpPr>
        <p:spPr>
          <a:xfrm>
            <a:off x="1737360" y="4864608"/>
            <a:ext cx="4023360" cy="411480"/>
          </a:xfrm>
          <a:prstGeom prst="rect">
            <a:avLst/>
          </a:prstGeom>
          <a:noFill/>
        </p:spPr>
        <p:txBody>
          <a:bodyPr wrap="square" lIns="0" tIns="0" rIns="0" bIns="0" rtlCol="0" anchor="t"/>
          <a:lstStyle/>
          <a:p>
            <a:pPr marL="0" indent="0">
              <a:buNone/>
            </a:pPr>
            <a:r>
              <a:rPr lang="en-US" sz="2200" b="1" dirty="0">
                <a:solidFill>
                  <a:schemeClr val="tx1"/>
                </a:solidFill>
                <a:latin typeface="Cambria" panose="02040503050406030204" pitchFamily="34" charset="0"/>
                <a:ea typeface="Cambria" panose="02040503050406030204" pitchFamily="34" charset="-122"/>
                <a:cs typeface="Cambria" panose="02040503050406030204" pitchFamily="34" charset="-120"/>
              </a:rPr>
              <a:t>Thử nghiệm</a:t>
            </a:r>
            <a:endParaRPr lang="en-US" sz="2200" dirty="0"/>
          </a:p>
        </p:txBody>
      </p:sp>
      <p:sp>
        <p:nvSpPr>
          <p:cNvPr id="28" name="Text 25"/>
          <p:cNvSpPr txBox="1"/>
          <p:nvPr/>
        </p:nvSpPr>
        <p:spPr>
          <a:xfrm>
            <a:off x="1737360" y="5321808"/>
            <a:ext cx="4023360" cy="54864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tối, dự đoán ảnh và video, đóng gói cho web</a:t>
            </a:r>
            <a:endParaRPr lang="en-US" sz="1600" dirty="0"/>
          </a:p>
        </p:txBody>
      </p:sp>
      <p:sp>
        <p:nvSpPr>
          <p:cNvPr id="29" name="agenda-card"/>
          <p:cNvSpPr/>
          <p:nvPr/>
        </p:nvSpPr>
        <p:spPr>
          <a:xfrm>
            <a:off x="6217920" y="4663440"/>
            <a:ext cx="5303520" cy="1280160"/>
          </a:xfrm>
          <a:prstGeom prst="roundRect">
            <a:avLst>
              <a:gd name="adj" fmla="val 8571"/>
            </a:avLst>
          </a:prstGeom>
          <a:solidFill>
            <a:schemeClr val="bg2"/>
          </a:solidFill>
        </p:spPr>
      </p:sp>
      <p:sp>
        <p:nvSpPr>
          <p:cNvPr id="30" name="agenda-num"/>
          <p:cNvSpPr/>
          <p:nvPr/>
        </p:nvSpPr>
        <p:spPr>
          <a:xfrm>
            <a:off x="6492240" y="4983480"/>
            <a:ext cx="640080" cy="640080"/>
          </a:xfrm>
          <a:prstGeom prst="ellipse">
            <a:avLst/>
          </a:prstGeom>
          <a:solidFill>
            <a:schemeClr val="accent1"/>
          </a:solidFill>
        </p:spPr>
      </p:sp>
      <p:sp>
        <p:nvSpPr>
          <p:cNvPr id="31" name="Text 28"/>
          <p:cNvSpPr txBox="1"/>
          <p:nvPr/>
        </p:nvSpPr>
        <p:spPr>
          <a:xfrm>
            <a:off x="6492240" y="4983480"/>
            <a:ext cx="640080" cy="640080"/>
          </a:xfrm>
          <a:prstGeom prst="rect">
            <a:avLst/>
          </a:prstGeom>
          <a:noFill/>
        </p:spPr>
        <p:txBody>
          <a:bodyPr wrap="square" lIns="0" tIns="0" rIns="0" bIns="0" rtlCol="0" anchor="ctr"/>
          <a:lstStyle/>
          <a:p>
            <a:pPr marL="0" indent="0" algn="ctr">
              <a:buNone/>
            </a:pPr>
            <a:r>
              <a:rPr lang="en-US" sz="2200" b="1" dirty="0">
                <a:solidFill>
                  <a:schemeClr val="bg1"/>
                </a:solidFill>
                <a:latin typeface="Cambria" panose="02040503050406030204" pitchFamily="34" charset="0"/>
                <a:ea typeface="Cambria" panose="02040503050406030204" pitchFamily="34" charset="-122"/>
                <a:cs typeface="Cambria" panose="02040503050406030204" pitchFamily="34" charset="-120"/>
              </a:rPr>
              <a:t>6</a:t>
            </a:r>
            <a:endParaRPr lang="en-US" sz="2200" dirty="0"/>
          </a:p>
        </p:txBody>
      </p:sp>
      <p:sp>
        <p:nvSpPr>
          <p:cNvPr id="32" name="Text 29"/>
          <p:cNvSpPr txBox="1"/>
          <p:nvPr/>
        </p:nvSpPr>
        <p:spPr>
          <a:xfrm>
            <a:off x="7315200" y="4864608"/>
            <a:ext cx="4023360" cy="411480"/>
          </a:xfrm>
          <a:prstGeom prst="rect">
            <a:avLst/>
          </a:prstGeom>
          <a:noFill/>
        </p:spPr>
        <p:txBody>
          <a:bodyPr wrap="square" lIns="0" tIns="0" rIns="0" bIns="0" rtlCol="0" anchor="t"/>
          <a:lstStyle/>
          <a:p>
            <a:pPr marL="0" indent="0">
              <a:buNone/>
            </a:pPr>
            <a:r>
              <a:rPr lang="en-US" sz="2200" b="1" dirty="0">
                <a:solidFill>
                  <a:schemeClr val="tx1"/>
                </a:solidFill>
                <a:latin typeface="Cambria" panose="02040503050406030204" pitchFamily="34" charset="0"/>
                <a:ea typeface="Cambria" panose="02040503050406030204" pitchFamily="34" charset="-122"/>
                <a:cs typeface="Cambria" panose="02040503050406030204" pitchFamily="34" charset="-120"/>
              </a:rPr>
              <a:t>Kết luận</a:t>
            </a:r>
            <a:endParaRPr lang="en-US" sz="2200" dirty="0"/>
          </a:p>
        </p:txBody>
      </p:sp>
      <p:sp>
        <p:nvSpPr>
          <p:cNvPr id="33" name="Text 30"/>
          <p:cNvSpPr txBox="1"/>
          <p:nvPr/>
        </p:nvSpPr>
        <p:spPr>
          <a:xfrm>
            <a:off x="7315200" y="5321808"/>
            <a:ext cx="4023360" cy="54864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Kết quả, hạn chế, hướng phát triển</a:t>
            </a:r>
            <a:endParaRPr lang="en-US" sz="1600" dirty="0"/>
          </a:p>
        </p:txBody>
      </p:sp>
      <p:sp>
        <p:nvSpPr>
          <p:cNvPr id="3"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Bài toán: nhận diện bệnh từ ảnh chụp thực địa</a:t>
            </a:r>
            <a:endParaRPr lang="en-US" sz="3200" dirty="0"/>
          </a:p>
        </p:txBody>
      </p:sp>
      <p:sp>
        <p:nvSpPr>
          <p:cNvPr id="4" name="card"/>
          <p:cNvSpPr/>
          <p:nvPr/>
        </p:nvSpPr>
        <p:spPr>
          <a:xfrm>
            <a:off x="640080" y="1554480"/>
            <a:ext cx="5303520" cy="4480560"/>
          </a:xfrm>
          <a:prstGeom prst="roundRect">
            <a:avLst>
              <a:gd name="adj" fmla="val 2449"/>
            </a:avLst>
          </a:prstGeom>
          <a:solidFill>
            <a:schemeClr val="bg2"/>
          </a:solidFill>
        </p:spPr>
      </p:sp>
      <p:sp>
        <p:nvSpPr>
          <p:cNvPr id="5" name="Text 2"/>
          <p:cNvSpPr txBox="1"/>
          <p:nvPr/>
        </p:nvSpPr>
        <p:spPr>
          <a:xfrm>
            <a:off x="1005840" y="1783080"/>
            <a:ext cx="4572000" cy="457200"/>
          </a:xfrm>
          <a:prstGeom prst="rect">
            <a:avLst/>
          </a:prstGeom>
          <a:noFill/>
        </p:spPr>
        <p:txBody>
          <a:bodyPr wrap="square" lIns="0" tIns="0" rIns="0" bIns="0" rtlCol="0" anchor="t"/>
          <a:lstStyle/>
          <a:p>
            <a:pPr marL="0" indent="0">
              <a:buNone/>
            </a:pPr>
            <a:r>
              <a:rPr lang="en-US" sz="22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Đầu vào và đầu ra</a:t>
            </a:r>
            <a:endParaRPr lang="en-US" sz="2200" dirty="0"/>
          </a:p>
        </p:txBody>
      </p:sp>
      <p:sp>
        <p:nvSpPr>
          <p:cNvPr id="6" name="Text 3"/>
          <p:cNvSpPr txBox="1"/>
          <p:nvPr/>
        </p:nvSpPr>
        <p:spPr>
          <a:xfrm>
            <a:off x="1005840" y="2377440"/>
            <a:ext cx="4572000" cy="3474720"/>
          </a:xfrm>
          <a:prstGeom prst="rect">
            <a:avLst/>
          </a:prstGeom>
          <a:noFill/>
        </p:spPr>
        <p:txBody>
          <a:bodyPr wrap="square" lIns="0" tIns="0" rIns="0" bIns="0" rtlCol="0" anchor="t"/>
          <a:lstStyle/>
          <a:p>
            <a:pPr marL="203200" indent="-203200">
              <a:spcAft>
                <a:spcPts val="800"/>
              </a:spcAft>
              <a:buSzPct val="100000"/>
              <a:buChar char="•"/>
            </a:pPr>
            <a:r>
              <a:rPr lang="en-US" sz="2000" dirty="0">
                <a:solidFill>
                  <a:schemeClr val="tx1"/>
                </a:solidFill>
                <a:latin typeface="Calibri" panose="020F0502020204030204" pitchFamily="34" charset="0"/>
                <a:ea typeface="Calibri" panose="020F0502020204030204" pitchFamily="34" charset="-122"/>
                <a:cs typeface="Calibri" panose="020F0502020204030204" pitchFamily="34" charset="-120"/>
              </a:rPr>
              <a:t>Đầu vào: một ảnh (hoặc video) cành lá chụp ngoài vườn, có thể quay lúc trời tối</a:t>
            </a:r>
            <a:endParaRPr lang="en-US" sz="2000" dirty="0"/>
          </a:p>
          <a:p>
            <a:pPr marL="203200" indent="-203200">
              <a:spcAft>
                <a:spcPts val="800"/>
              </a:spcAft>
              <a:buSzPct val="100000"/>
              <a:buChar char="•"/>
            </a:pPr>
            <a:r>
              <a:rPr lang="en-US" sz="2000" dirty="0">
                <a:solidFill>
                  <a:schemeClr val="tx1"/>
                </a:solidFill>
                <a:latin typeface="Calibri" panose="020F0502020204030204" pitchFamily="34" charset="0"/>
                <a:ea typeface="Calibri" panose="020F0502020204030204" pitchFamily="34" charset="-122"/>
                <a:cs typeface="Calibri" panose="020F0502020204030204" pitchFamily="34" charset="-120"/>
              </a:rPr>
              <a:t>Đầu ra: một trong 33 lớp, gồm 6 lớp thanh long và 27 lớp lá cây của PlantDoc</a:t>
            </a:r>
            <a:endParaRPr lang="en-US" sz="2000" dirty="0"/>
          </a:p>
          <a:p>
            <a:pPr marL="203200" indent="-203200">
              <a:spcAft>
                <a:spcPts val="800"/>
              </a:spcAft>
              <a:buSzPct val="100000"/>
              <a:buChar char="•"/>
            </a:pPr>
            <a:r>
              <a:rPr lang="en-US" sz="2000" dirty="0">
                <a:solidFill>
                  <a:schemeClr val="tx1"/>
                </a:solidFill>
                <a:latin typeface="Calibri" panose="020F0502020204030204" pitchFamily="34" charset="0"/>
                <a:ea typeface="Calibri" panose="020F0502020204030204" pitchFamily="34" charset="-122"/>
                <a:cs typeface="Calibri" panose="020F0502020204030204" pitchFamily="34" charset="-120"/>
              </a:rPr>
              <a:t>Thanh long: khỏe mạnh, nấm đỏ, đốm vàng, nấm đồng tiền, đốm dây, thối cành</a:t>
            </a:r>
            <a:endParaRPr lang="en-US" sz="2000" dirty="0"/>
          </a:p>
        </p:txBody>
      </p:sp>
      <p:sp>
        <p:nvSpPr>
          <p:cNvPr id="7" name="card"/>
          <p:cNvSpPr/>
          <p:nvPr/>
        </p:nvSpPr>
        <p:spPr>
          <a:xfrm>
            <a:off x="6263640" y="1554480"/>
            <a:ext cx="5303520" cy="4480560"/>
          </a:xfrm>
          <a:prstGeom prst="roundRect">
            <a:avLst>
              <a:gd name="adj" fmla="val 2449"/>
            </a:avLst>
          </a:prstGeom>
          <a:solidFill>
            <a:schemeClr val="tx1"/>
          </a:solidFill>
        </p:spPr>
      </p:sp>
      <p:sp>
        <p:nvSpPr>
          <p:cNvPr id="8" name="Text 5"/>
          <p:cNvSpPr txBox="1"/>
          <p:nvPr/>
        </p:nvSpPr>
        <p:spPr>
          <a:xfrm>
            <a:off x="6629400" y="1783080"/>
            <a:ext cx="4572000" cy="457200"/>
          </a:xfrm>
          <a:prstGeom prst="rect">
            <a:avLst/>
          </a:prstGeom>
          <a:noFill/>
        </p:spPr>
        <p:txBody>
          <a:bodyPr wrap="square" lIns="0" tIns="0" rIns="0" bIns="0" rtlCol="0" anchor="t"/>
          <a:lstStyle/>
          <a:p>
            <a:pPr marL="0" indent="0">
              <a:buNone/>
            </a:pPr>
            <a:r>
              <a:rPr lang="en-US" sz="22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Mục tiêu của nhóm</a:t>
            </a:r>
            <a:endParaRPr lang="en-US" sz="2200" dirty="0"/>
          </a:p>
        </p:txBody>
      </p:sp>
      <p:sp>
        <p:nvSpPr>
          <p:cNvPr id="9" name="Text 6"/>
          <p:cNvSpPr txBox="1"/>
          <p:nvPr/>
        </p:nvSpPr>
        <p:spPr>
          <a:xfrm>
            <a:off x="6629400" y="2377440"/>
            <a:ext cx="4572000" cy="3474720"/>
          </a:xfrm>
          <a:prstGeom prst="rect">
            <a:avLst/>
          </a:prstGeom>
          <a:noFill/>
        </p:spPr>
        <p:txBody>
          <a:bodyPr wrap="square" lIns="0" tIns="0" rIns="0" bIns="0" rtlCol="0" anchor="t"/>
          <a:lstStyle/>
          <a:p>
            <a:pPr marL="203200" indent="-203200">
              <a:spcAft>
                <a:spcPts val="800"/>
              </a:spcAft>
              <a:buSzPct val="100000"/>
              <a:buChar char="•"/>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Tự thu thập và gán nhãn ảnh thanh long, ghép với PlantDoc</a:t>
            </a:r>
            <a:endParaRPr lang="en-US" sz="2000" dirty="0"/>
          </a:p>
          <a:p>
            <a:pPr marL="203200" indent="-203200">
              <a:spcAft>
                <a:spcPts val="800"/>
              </a:spcAft>
              <a:buSzPct val="100000"/>
              <a:buChar char="•"/>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So sánh Random Forest (đặc trưng thủ công) với hai mạng học sâu huấn luyện từ đầu</a:t>
            </a:r>
            <a:endParaRPr lang="en-US" sz="2000" dirty="0"/>
          </a:p>
          <a:p>
            <a:pPr marL="203200" indent="-203200">
              <a:spcAft>
                <a:spcPts val="800"/>
              </a:spcAft>
              <a:buSzPct val="100000"/>
              <a:buChar char="•"/>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Đánh giá trung thực trên video chưa thấy lúc train</a:t>
            </a:r>
            <a:endParaRPr lang="en-US" sz="2000" dirty="0"/>
          </a:p>
          <a:p>
            <a:pPr marL="203200" indent="-203200">
              <a:spcAft>
                <a:spcPts val="800"/>
              </a:spcAft>
              <a:buSzPct val="100000"/>
              <a:buChar char="•"/>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Đóng gói mô hình cho ứng dụng web</a:t>
            </a:r>
            <a:endParaRPr lang="en-US" sz="20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Bộ dữ liệu: 2.640 ảnh thanh long tự quay + PlantDoc</a:t>
            </a:r>
            <a:endParaRPr lang="en-US" sz="3200" dirty="0"/>
          </a:p>
        </p:txBody>
      </p:sp>
      <p:sp>
        <p:nvSpPr>
          <p:cNvPr id="4" name="Text 1"/>
          <p:cNvSpPr txBox="1"/>
          <p:nvPr/>
        </p:nvSpPr>
        <p:spPr>
          <a:xfrm>
            <a:off x="640080" y="1600200"/>
            <a:ext cx="329184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2.640</a:t>
            </a:r>
            <a:endParaRPr lang="en-US" sz="4000" dirty="0"/>
          </a:p>
        </p:txBody>
      </p:sp>
      <p:sp>
        <p:nvSpPr>
          <p:cNvPr id="5" name="Text 2"/>
          <p:cNvSpPr txBox="1"/>
          <p:nvPr/>
        </p:nvSpPr>
        <p:spPr>
          <a:xfrm>
            <a:off x="640080" y="2377440"/>
            <a:ext cx="3291840" cy="6400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thanh long, 6 lớp, từ 17 video</a:t>
            </a:r>
            <a:endParaRPr lang="en-US" sz="1600" dirty="0"/>
          </a:p>
        </p:txBody>
      </p:sp>
      <p:sp>
        <p:nvSpPr>
          <p:cNvPr id="6" name="Text 3"/>
          <p:cNvSpPr txBox="1"/>
          <p:nvPr/>
        </p:nvSpPr>
        <p:spPr>
          <a:xfrm>
            <a:off x="640080" y="3063240"/>
            <a:ext cx="329184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2.555</a:t>
            </a:r>
            <a:endParaRPr lang="en-US" sz="4000" dirty="0"/>
          </a:p>
        </p:txBody>
      </p:sp>
      <p:sp>
        <p:nvSpPr>
          <p:cNvPr id="7" name="Text 4"/>
          <p:cNvSpPr txBox="1"/>
          <p:nvPr/>
        </p:nvSpPr>
        <p:spPr>
          <a:xfrm>
            <a:off x="640080" y="3840480"/>
            <a:ext cx="3291840" cy="6400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PlantDoc, 27 lớp lá cây</a:t>
            </a:r>
            <a:endParaRPr lang="en-US" sz="1600" dirty="0"/>
          </a:p>
        </p:txBody>
      </p:sp>
      <p:sp>
        <p:nvSpPr>
          <p:cNvPr id="8" name="Text 5"/>
          <p:cNvSpPr txBox="1"/>
          <p:nvPr/>
        </p:nvSpPr>
        <p:spPr>
          <a:xfrm>
            <a:off x="640080" y="4526280"/>
            <a:ext cx="329184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5.195</a:t>
            </a:r>
            <a:endParaRPr lang="en-US" sz="4000" dirty="0"/>
          </a:p>
        </p:txBody>
      </p:sp>
      <p:sp>
        <p:nvSpPr>
          <p:cNvPr id="9" name="Text 6"/>
          <p:cNvSpPr txBox="1"/>
          <p:nvPr/>
        </p:nvSpPr>
        <p:spPr>
          <a:xfrm>
            <a:off x="640080" y="5303520"/>
            <a:ext cx="3291840" cy="6400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33 lớp trong toàn bộ thực nghiệm</a:t>
            </a:r>
            <a:endParaRPr lang="en-US" sz="1600" dirty="0"/>
          </a:p>
        </p:txBody>
      </p:sp>
      <p:sp>
        <p:nvSpPr>
          <p:cNvPr id="10" name="card"/>
          <p:cNvSpPr/>
          <p:nvPr/>
        </p:nvSpPr>
        <p:spPr>
          <a:xfrm>
            <a:off x="4297680" y="1554480"/>
            <a:ext cx="7269480" cy="4480560"/>
          </a:xfrm>
          <a:prstGeom prst="roundRect">
            <a:avLst>
              <a:gd name="adj" fmla="val 2449"/>
            </a:avLst>
          </a:prstGeom>
          <a:solidFill>
            <a:schemeClr val="bg2"/>
          </a:solidFill>
        </p:spPr>
      </p:sp>
      <p:pic>
        <p:nvPicPr>
          <p:cNvPr id="11" name="phân bố số ảnh" descr="phân bố số ảnh"/>
          <p:cNvPicPr>
            <a:picLocks noChangeAspect="1"/>
          </p:cNvPicPr>
          <p:nvPr/>
        </p:nvPicPr>
        <p:blipFill>
          <a:blip r:embed="rId1"/>
          <a:stretch>
            <a:fillRect/>
          </a:stretch>
        </p:blipFill>
        <p:spPr>
          <a:xfrm>
            <a:off x="4992728" y="1691640"/>
            <a:ext cx="5879384" cy="1737360"/>
          </a:xfrm>
          <a:prstGeom prst="rect">
            <a:avLst/>
          </a:prstGeom>
        </p:spPr>
      </p:pic>
      <p:sp>
        <p:nvSpPr>
          <p:cNvPr id="12" name="Text 8"/>
          <p:cNvSpPr txBox="1"/>
          <p:nvPr/>
        </p:nvSpPr>
        <p:spPr>
          <a:xfrm>
            <a:off x="4526280" y="3657600"/>
            <a:ext cx="6812280" cy="1188720"/>
          </a:xfrm>
          <a:prstGeom prst="rect">
            <a:avLst/>
          </a:prstGeom>
          <a:noFill/>
        </p:spPr>
        <p:txBody>
          <a:bodyPr wrap="square" lIns="0" tIns="0" rIns="0" bIns="0" rtlCol="0" anchor="t"/>
          <a:lstStyle/>
          <a:p>
            <a:pPr marL="0" indent="0">
              <a:buNone/>
            </a:pPr>
            <a:r>
              <a:rPr lang="en-US" sz="1800" dirty="0">
                <a:solidFill>
                  <a:schemeClr val="tx1"/>
                </a:solidFill>
                <a:latin typeface="Calibri" panose="020F0502020204030204" pitchFamily="34" charset="0"/>
                <a:ea typeface="Calibri" panose="020F0502020204030204" pitchFamily="34" charset="-122"/>
                <a:cs typeface="Calibri" panose="020F0502020204030204" pitchFamily="34" charset="-120"/>
              </a:rPr>
              <a:t>Thanh long: 2.000 ảnh ban ngày và 640 ảnh quay lúc trời tối. Mỗi lớp được quay ở ít nhất một video sáng và một video tối.</a:t>
            </a:r>
            <a:endParaRPr lang="en-US" sz="1800" dirty="0"/>
          </a:p>
        </p:txBody>
      </p:sp>
      <p:sp>
        <p:nvSpPr>
          <p:cNvPr id="13" name="Text 9"/>
          <p:cNvSpPr txBox="1"/>
          <p:nvPr/>
        </p:nvSpPr>
        <p:spPr>
          <a:xfrm>
            <a:off x="4526280" y="5029200"/>
            <a:ext cx="6812280" cy="73152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Tên bệnh được ghi theo cách gọi của người trồng ở địa phương.</a:t>
            </a:r>
            <a:endParaRPr lang="en-US" sz="16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33 lớp, số ảnh mỗi lớp chênh nhau hơn 12 lần</a:t>
            </a:r>
            <a:endParaRPr lang="en-US" sz="3200" dirty="0"/>
          </a:p>
        </p:txBody>
      </p:sp>
      <p:sp>
        <p:nvSpPr>
          <p:cNvPr id="4" name="card"/>
          <p:cNvSpPr/>
          <p:nvPr/>
        </p:nvSpPr>
        <p:spPr>
          <a:xfrm>
            <a:off x="640080" y="1508760"/>
            <a:ext cx="4572000" cy="4572000"/>
          </a:xfrm>
          <a:prstGeom prst="roundRect">
            <a:avLst>
              <a:gd name="adj" fmla="val 2400"/>
            </a:avLst>
          </a:prstGeom>
          <a:solidFill>
            <a:schemeClr val="bg2"/>
          </a:solidFill>
        </p:spPr>
      </p:sp>
      <p:pic>
        <p:nvPicPr>
          <p:cNvPr id="5" name="33 lớp" descr="33 lớp"/>
          <p:cNvPicPr>
            <a:picLocks noChangeAspect="1"/>
          </p:cNvPicPr>
          <p:nvPr/>
        </p:nvPicPr>
        <p:blipFill>
          <a:blip r:embed="rId1"/>
          <a:stretch>
            <a:fillRect/>
          </a:stretch>
        </p:blipFill>
        <p:spPr>
          <a:xfrm>
            <a:off x="731520" y="1602417"/>
            <a:ext cx="4389120" cy="4384687"/>
          </a:xfrm>
          <a:prstGeom prst="rect">
            <a:avLst/>
          </a:prstGeom>
        </p:spPr>
      </p:pic>
      <p:sp>
        <p:nvSpPr>
          <p:cNvPr id="6" name="Text 2"/>
          <p:cNvSpPr txBox="1"/>
          <p:nvPr/>
        </p:nvSpPr>
        <p:spPr>
          <a:xfrm>
            <a:off x="5486400" y="1600200"/>
            <a:ext cx="6035040" cy="4389120"/>
          </a:xfrm>
          <a:prstGeom prst="rect">
            <a:avLst/>
          </a:prstGeom>
          <a:noFill/>
        </p:spPr>
        <p:txBody>
          <a:bodyPr wrap="square" lIns="0" tIns="0" rIns="0" bIns="0" rtlCol="0" anchor="t"/>
          <a:lstStyle/>
          <a:p>
            <a:pPr marL="203200" indent="-203200">
              <a:spcAft>
                <a:spcPts val="800"/>
              </a:spcAft>
              <a:buSzPct val="100000"/>
              <a:buChar char="•"/>
            </a:pPr>
            <a:r>
              <a:rPr lang="en-US" sz="2100" dirty="0">
                <a:solidFill>
                  <a:schemeClr val="tx1"/>
                </a:solidFill>
                <a:latin typeface="Calibri" panose="020F0502020204030204" pitchFamily="34" charset="0"/>
                <a:ea typeface="Calibri" panose="020F0502020204030204" pitchFamily="34" charset="-122"/>
                <a:cs typeface="Calibri" panose="020F0502020204030204" pitchFamily="34" charset="-120"/>
              </a:rPr>
              <a:t>Lớp lớn nhất: Dragon fruit healthy 653 ảnh; lớp nhỏ nhất: Tomato leaf mosaic virus 54 ảnh</a:t>
            </a:r>
            <a:endParaRPr lang="en-US" sz="2100" dirty="0"/>
          </a:p>
          <a:p>
            <a:pPr marL="203200" indent="-203200">
              <a:spcAft>
                <a:spcPts val="800"/>
              </a:spcAft>
              <a:buSzPct val="100000"/>
              <a:buChar char="•"/>
            </a:pPr>
            <a:r>
              <a:rPr lang="en-US" sz="2100" dirty="0">
                <a:solidFill>
                  <a:schemeClr val="tx1"/>
                </a:solidFill>
                <a:latin typeface="Calibri" panose="020F0502020204030204" pitchFamily="34" charset="0"/>
                <a:ea typeface="Calibri" panose="020F0502020204030204" pitchFamily="34" charset="-122"/>
                <a:cs typeface="Calibri" panose="020F0502020204030204" pitchFamily="34" charset="-120"/>
              </a:rPr>
              <a:t>Thanh long chiếm 50,8% số ảnh nhưng chỉ có 6 lớp, còn 27 lớp PlantDoc chiếm 49,2%</a:t>
            </a:r>
            <a:endParaRPr lang="en-US" sz="2100" dirty="0"/>
          </a:p>
          <a:p>
            <a:pPr marL="203200" indent="-203200">
              <a:spcAft>
                <a:spcPts val="800"/>
              </a:spcAft>
              <a:buSzPct val="100000"/>
              <a:buChar char="•"/>
            </a:pPr>
            <a:r>
              <a:rPr lang="en-US" sz="2100" dirty="0">
                <a:solidFill>
                  <a:schemeClr val="tx1"/>
                </a:solidFill>
                <a:latin typeface="Calibri" panose="020F0502020204030204" pitchFamily="34" charset="0"/>
                <a:ea typeface="Calibri" panose="020F0502020204030204" pitchFamily="34" charset="-122"/>
                <a:cs typeface="Calibri" panose="020F0502020204030204" pitchFamily="34" charset="-120"/>
              </a:rPr>
              <a:t>Ảnh PlantDoc có nền rất đa dạng; ảnh thanh long cùng một video thì rất giống nhau</a:t>
            </a:r>
            <a:endParaRPr lang="en-US" sz="2100" dirty="0"/>
          </a:p>
          <a:p>
            <a:pPr marL="203200" indent="-203200">
              <a:spcAft>
                <a:spcPts val="800"/>
              </a:spcAft>
              <a:buSzPct val="100000"/>
              <a:buChar char="•"/>
            </a:pPr>
            <a:r>
              <a:rPr lang="en-US" sz="2100" dirty="0">
                <a:solidFill>
                  <a:schemeClr val="tx1"/>
                </a:solidFill>
                <a:latin typeface="Calibri" panose="020F0502020204030204" pitchFamily="34" charset="0"/>
                <a:ea typeface="Calibri" panose="020F0502020204030204" pitchFamily="34" charset="-122"/>
                <a:cs typeface="Calibri" panose="020F0502020204030204" pitchFamily="34" charset="-120"/>
              </a:rPr>
              <a:t>Hệ quả: dễ học thuộc video, mô hình thiên về lớp lớn nếu không bù trọng số</a:t>
            </a:r>
            <a:endParaRPr lang="en-US" sz="21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Ảnh quay lúc trời tối khác hẳn ảnh ban ngày</a:t>
            </a:r>
            <a:endParaRPr lang="en-US" sz="3200" dirty="0"/>
          </a:p>
        </p:txBody>
      </p:sp>
      <p:sp>
        <p:nvSpPr>
          <p:cNvPr id="4" name="card"/>
          <p:cNvSpPr/>
          <p:nvPr/>
        </p:nvSpPr>
        <p:spPr>
          <a:xfrm>
            <a:off x="640080" y="1508760"/>
            <a:ext cx="5394960" cy="2743200"/>
          </a:xfrm>
          <a:prstGeom prst="roundRect">
            <a:avLst>
              <a:gd name="adj" fmla="val 4000"/>
            </a:avLst>
          </a:prstGeom>
          <a:solidFill>
            <a:schemeClr val="bg2"/>
          </a:solidFill>
        </p:spPr>
      </p:sp>
      <p:pic>
        <p:nvPicPr>
          <p:cNvPr id="5" name="histogram độ sáng" descr="histogram độ sáng"/>
          <p:cNvPicPr>
            <a:picLocks noChangeAspect="1"/>
          </p:cNvPicPr>
          <p:nvPr/>
        </p:nvPicPr>
        <p:blipFill>
          <a:blip r:embed="rId1"/>
          <a:stretch>
            <a:fillRect/>
          </a:stretch>
        </p:blipFill>
        <p:spPr>
          <a:xfrm>
            <a:off x="1164871" y="1600200"/>
            <a:ext cx="4345378" cy="2560320"/>
          </a:xfrm>
          <a:prstGeom prst="rect">
            <a:avLst/>
          </a:prstGeom>
        </p:spPr>
      </p:pic>
      <p:sp>
        <p:nvSpPr>
          <p:cNvPr id="6" name="card"/>
          <p:cNvSpPr/>
          <p:nvPr/>
        </p:nvSpPr>
        <p:spPr>
          <a:xfrm>
            <a:off x="6263640" y="1508760"/>
            <a:ext cx="5303520" cy="2743200"/>
          </a:xfrm>
          <a:prstGeom prst="roundRect">
            <a:avLst>
              <a:gd name="adj" fmla="val 4000"/>
            </a:avLst>
          </a:prstGeom>
          <a:solidFill>
            <a:schemeClr val="bg2"/>
          </a:solidFill>
        </p:spPr>
      </p:sp>
      <p:pic>
        <p:nvPicPr>
          <p:cNvPr id="7" name="ảnh tối mẫu" descr="ảnh tối mẫu"/>
          <p:cNvPicPr>
            <a:picLocks noChangeAspect="1"/>
          </p:cNvPicPr>
          <p:nvPr/>
        </p:nvPicPr>
        <p:blipFill>
          <a:blip r:embed="rId2"/>
          <a:stretch>
            <a:fillRect/>
          </a:stretch>
        </p:blipFill>
        <p:spPr>
          <a:xfrm>
            <a:off x="6355080" y="2284025"/>
            <a:ext cx="5120640" cy="1192670"/>
          </a:xfrm>
          <a:prstGeom prst="rect">
            <a:avLst/>
          </a:prstGeom>
        </p:spPr>
      </p:pic>
      <p:sp>
        <p:nvSpPr>
          <p:cNvPr id="8" name="Text 3"/>
          <p:cNvSpPr txBox="1"/>
          <p:nvPr/>
        </p:nvSpPr>
        <p:spPr>
          <a:xfrm>
            <a:off x="640080" y="4526280"/>
            <a:ext cx="274320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 116</a:t>
            </a:r>
            <a:endParaRPr lang="en-US" sz="4000" dirty="0"/>
          </a:p>
        </p:txBody>
      </p:sp>
      <p:sp>
        <p:nvSpPr>
          <p:cNvPr id="9" name="Text 4"/>
          <p:cNvSpPr txBox="1"/>
          <p:nvPr/>
        </p:nvSpPr>
        <p:spPr>
          <a:xfrm>
            <a:off x="640080" y="5303520"/>
            <a:ext cx="2743200" cy="6400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độ sáng trung bình ảnh ban ngày</a:t>
            </a:r>
            <a:endParaRPr lang="en-US" sz="1600" dirty="0"/>
          </a:p>
        </p:txBody>
      </p:sp>
      <p:sp>
        <p:nvSpPr>
          <p:cNvPr id="10" name="Text 5"/>
          <p:cNvSpPr txBox="1"/>
          <p:nvPr/>
        </p:nvSpPr>
        <p:spPr>
          <a:xfrm>
            <a:off x="3840480" y="4526280"/>
            <a:ext cx="274320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 31</a:t>
            </a:r>
            <a:endParaRPr lang="en-US" sz="4000" dirty="0"/>
          </a:p>
        </p:txBody>
      </p:sp>
      <p:sp>
        <p:nvSpPr>
          <p:cNvPr id="11" name="Text 6"/>
          <p:cNvSpPr txBox="1"/>
          <p:nvPr/>
        </p:nvSpPr>
        <p:spPr>
          <a:xfrm>
            <a:off x="3840480" y="5303520"/>
            <a:ext cx="2743200" cy="6400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độ sáng trung bình ảnh quay lúc tối</a:t>
            </a:r>
            <a:endParaRPr lang="en-US" sz="1600" dirty="0"/>
          </a:p>
        </p:txBody>
      </p:sp>
      <p:sp>
        <p:nvSpPr>
          <p:cNvPr id="12" name="Text 7"/>
          <p:cNvSpPr txBox="1"/>
          <p:nvPr/>
        </p:nvSpPr>
        <p:spPr>
          <a:xfrm>
            <a:off x="7086600" y="4572000"/>
            <a:ext cx="4480560" cy="1371600"/>
          </a:xfrm>
          <a:prstGeom prst="rect">
            <a:avLst/>
          </a:prstGeom>
          <a:noFill/>
        </p:spPr>
        <p:txBody>
          <a:bodyPr wrap="square" lIns="0" tIns="0" rIns="0" bIns="0" rtlCol="0" anchor="t"/>
          <a:lstStyle/>
          <a:p>
            <a:pPr marL="0" indent="0">
              <a:buNone/>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Cách xử lý: ảnh có độ sáng trung bình dưới 60 sẽ được làm sáng trước khi đưa vào mô hình (slide 9).</a:t>
            </a:r>
            <a:endParaRPr lang="en-US" sz="19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Chia tập theo video, không chia ngẫu nhiên</a:t>
            </a:r>
            <a:endParaRPr lang="en-US" sz="3200" dirty="0"/>
          </a:p>
        </p:txBody>
      </p:sp>
      <p:sp>
        <p:nvSpPr>
          <p:cNvPr id="4" name="Text 1"/>
          <p:cNvSpPr txBox="1"/>
          <p:nvPr/>
        </p:nvSpPr>
        <p:spPr>
          <a:xfrm>
            <a:off x="640080" y="1554480"/>
            <a:ext cx="274320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3.786</a:t>
            </a:r>
            <a:endParaRPr lang="en-US" sz="4000" dirty="0"/>
          </a:p>
        </p:txBody>
      </p:sp>
      <p:sp>
        <p:nvSpPr>
          <p:cNvPr id="5" name="Text 2"/>
          <p:cNvSpPr txBox="1"/>
          <p:nvPr/>
        </p:nvSpPr>
        <p:spPr>
          <a:xfrm>
            <a:off x="640080" y="2331720"/>
            <a:ext cx="2743200" cy="6400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train (72,9%)</a:t>
            </a:r>
            <a:endParaRPr lang="en-US" sz="1600" dirty="0"/>
          </a:p>
        </p:txBody>
      </p:sp>
      <p:sp>
        <p:nvSpPr>
          <p:cNvPr id="6" name="Text 3"/>
          <p:cNvSpPr txBox="1"/>
          <p:nvPr/>
        </p:nvSpPr>
        <p:spPr>
          <a:xfrm>
            <a:off x="3657600" y="1554480"/>
            <a:ext cx="274320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675</a:t>
            </a:r>
            <a:endParaRPr lang="en-US" sz="4000" dirty="0"/>
          </a:p>
        </p:txBody>
      </p:sp>
      <p:sp>
        <p:nvSpPr>
          <p:cNvPr id="7" name="Text 4"/>
          <p:cNvSpPr txBox="1"/>
          <p:nvPr/>
        </p:nvSpPr>
        <p:spPr>
          <a:xfrm>
            <a:off x="3657600" y="2331720"/>
            <a:ext cx="2743200" cy="6400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validation (13,0%)</a:t>
            </a:r>
            <a:endParaRPr lang="en-US" sz="1600" dirty="0"/>
          </a:p>
        </p:txBody>
      </p:sp>
      <p:sp>
        <p:nvSpPr>
          <p:cNvPr id="8" name="Text 5"/>
          <p:cNvSpPr txBox="1"/>
          <p:nvPr/>
        </p:nvSpPr>
        <p:spPr>
          <a:xfrm>
            <a:off x="6675120" y="1554480"/>
            <a:ext cx="274320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734</a:t>
            </a:r>
            <a:endParaRPr lang="en-US" sz="4000" dirty="0"/>
          </a:p>
        </p:txBody>
      </p:sp>
      <p:sp>
        <p:nvSpPr>
          <p:cNvPr id="9" name="Text 6"/>
          <p:cNvSpPr txBox="1"/>
          <p:nvPr/>
        </p:nvSpPr>
        <p:spPr>
          <a:xfrm>
            <a:off x="6675120" y="2331720"/>
            <a:ext cx="2743200" cy="6400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test (14,1%)</a:t>
            </a:r>
            <a:endParaRPr lang="en-US" sz="1600" dirty="0"/>
          </a:p>
        </p:txBody>
      </p:sp>
      <p:sp>
        <p:nvSpPr>
          <p:cNvPr id="10" name="card"/>
          <p:cNvSpPr/>
          <p:nvPr/>
        </p:nvSpPr>
        <p:spPr>
          <a:xfrm>
            <a:off x="640080" y="3200400"/>
            <a:ext cx="5394960" cy="2834640"/>
          </a:xfrm>
          <a:prstGeom prst="roundRect">
            <a:avLst>
              <a:gd name="adj" fmla="val 3871"/>
            </a:avLst>
          </a:prstGeom>
          <a:solidFill>
            <a:schemeClr val="bg2"/>
          </a:solidFill>
        </p:spPr>
      </p:sp>
      <p:sp>
        <p:nvSpPr>
          <p:cNvPr id="11" name="Text 8"/>
          <p:cNvSpPr txBox="1"/>
          <p:nvPr/>
        </p:nvSpPr>
        <p:spPr>
          <a:xfrm>
            <a:off x="960120" y="3383280"/>
            <a:ext cx="4754880" cy="411480"/>
          </a:xfrm>
          <a:prstGeom prst="rect">
            <a:avLst/>
          </a:prstGeom>
          <a:noFill/>
        </p:spPr>
        <p:txBody>
          <a:bodyPr wrap="square" lIns="0" tIns="0" rIns="0" bIns="0" rtlCol="0" anchor="t"/>
          <a:lstStyle/>
          <a:p>
            <a:pPr marL="0" indent="0">
              <a:buNone/>
            </a:pPr>
            <a:r>
              <a:rPr lang="en-US" sz="2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Hai cách chia test cho thanh long</a:t>
            </a:r>
            <a:endParaRPr lang="en-US" sz="2000" dirty="0"/>
          </a:p>
        </p:txBody>
      </p:sp>
      <p:sp>
        <p:nvSpPr>
          <p:cNvPr id="12" name="Text 9"/>
          <p:cNvSpPr txBox="1"/>
          <p:nvPr/>
        </p:nvSpPr>
        <p:spPr>
          <a:xfrm>
            <a:off x="960120" y="3931920"/>
            <a:ext cx="4846320" cy="201168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Đoạn cuối video: lớp chỉ có một video sáng, một video tối thì dành khoảng 15% khung cuối làm test</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Video riêng: lớp có nhiều video thì dành hẳn một video làm test (thanhlong9, 10, 13, 18)</a:t>
            </a:r>
            <a:endParaRPr lang="en-US" sz="1900" dirty="0"/>
          </a:p>
        </p:txBody>
      </p:sp>
      <p:sp>
        <p:nvSpPr>
          <p:cNvPr id="13" name="card"/>
          <p:cNvSpPr/>
          <p:nvPr/>
        </p:nvSpPr>
        <p:spPr>
          <a:xfrm>
            <a:off x="6263640" y="3200400"/>
            <a:ext cx="5303520" cy="2834640"/>
          </a:xfrm>
          <a:prstGeom prst="roundRect">
            <a:avLst>
              <a:gd name="adj" fmla="val 3871"/>
            </a:avLst>
          </a:prstGeom>
          <a:solidFill>
            <a:schemeClr val="tx1"/>
          </a:solidFill>
        </p:spPr>
      </p:sp>
      <p:sp>
        <p:nvSpPr>
          <p:cNvPr id="14" name="Text 11"/>
          <p:cNvSpPr txBox="1"/>
          <p:nvPr/>
        </p:nvSpPr>
        <p:spPr>
          <a:xfrm>
            <a:off x="6583680" y="3383280"/>
            <a:ext cx="4754880" cy="411480"/>
          </a:xfrm>
          <a:prstGeom prst="rect">
            <a:avLst/>
          </a:prstGeom>
          <a:noFill/>
        </p:spPr>
        <p:txBody>
          <a:bodyPr wrap="square" lIns="0" tIns="0" rIns="0" bIns="0" rtlCol="0" anchor="t"/>
          <a:lstStyle/>
          <a:p>
            <a:pPr marL="0" indent="0">
              <a:buNone/>
            </a:pPr>
            <a:r>
              <a:rPr lang="en-US" sz="20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Tập test gồm 734 ảnh</a:t>
            </a:r>
            <a:endParaRPr lang="en-US" sz="2000" dirty="0"/>
          </a:p>
        </p:txBody>
      </p:sp>
      <p:sp>
        <p:nvSpPr>
          <p:cNvPr id="15" name="Text 12"/>
          <p:cNvSpPr txBox="1"/>
          <p:nvPr/>
        </p:nvSpPr>
        <p:spPr>
          <a:xfrm>
            <a:off x="6583680" y="3931920"/>
            <a:ext cx="4846320" cy="201168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bg1"/>
                </a:solidFill>
                <a:latin typeface="Calibri" panose="020F0502020204030204" pitchFamily="34" charset="0"/>
                <a:ea typeface="Calibri" panose="020F0502020204030204" pitchFamily="34" charset="-122"/>
                <a:cs typeface="Calibri" panose="020F0502020204030204" pitchFamily="34" charset="-120"/>
              </a:rPr>
              <a:t>509 ảnh thanh long: 301 sáng và 208 tối</a:t>
            </a:r>
            <a:endParaRPr lang="en-US" sz="1900" dirty="0"/>
          </a:p>
          <a:p>
            <a:pPr marL="203200" indent="-203200">
              <a:spcAft>
                <a:spcPts val="800"/>
              </a:spcAft>
              <a:buSzPct val="100000"/>
              <a:buChar char="•"/>
            </a:pPr>
            <a:r>
              <a:rPr lang="en-US" sz="1900" dirty="0">
                <a:solidFill>
                  <a:schemeClr val="bg1"/>
                </a:solidFill>
                <a:latin typeface="Calibri" panose="020F0502020204030204" pitchFamily="34" charset="0"/>
                <a:ea typeface="Calibri" panose="020F0502020204030204" pitchFamily="34" charset="-122"/>
                <a:cs typeface="Calibri" panose="020F0502020204030204" pitchFamily="34" charset="-120"/>
              </a:rPr>
              <a:t>225 ảnh PlantDoc (27 lớp)</a:t>
            </a:r>
            <a:endParaRPr lang="en-US" sz="1900" dirty="0"/>
          </a:p>
          <a:p>
            <a:pPr marL="203200" indent="-203200">
              <a:spcAft>
                <a:spcPts val="800"/>
              </a:spcAft>
              <a:buSzPct val="100000"/>
              <a:buChar char="•"/>
            </a:pPr>
            <a:r>
              <a:rPr lang="en-US" sz="1900" dirty="0">
                <a:solidFill>
                  <a:schemeClr val="bg1"/>
                </a:solidFill>
                <a:latin typeface="Calibri" panose="020F0502020204030204" pitchFamily="34" charset="0"/>
                <a:ea typeface="Calibri" panose="020F0502020204030204" pitchFamily="34" charset="-122"/>
                <a:cs typeface="Calibri" panose="020F0502020204030204" pitchFamily="34" charset="-120"/>
              </a:rPr>
              <a:t>Từ train, 15% khung cuối mỗi video được tách làm validation</a:t>
            </a:r>
            <a:endParaRPr lang="en-US" sz="19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Quy trình tiền xử lý gồm năm bước</a:t>
            </a:r>
            <a:endParaRPr lang="en-US" sz="3200" dirty="0"/>
          </a:p>
        </p:txBody>
      </p:sp>
      <p:sp>
        <p:nvSpPr>
          <p:cNvPr id="4" name="card"/>
          <p:cNvSpPr/>
          <p:nvPr/>
        </p:nvSpPr>
        <p:spPr>
          <a:xfrm>
            <a:off x="640080" y="1737360"/>
            <a:ext cx="2011680" cy="3749040"/>
          </a:xfrm>
          <a:prstGeom prst="roundRect">
            <a:avLst>
              <a:gd name="adj" fmla="val 5455"/>
            </a:avLst>
          </a:prstGeom>
          <a:solidFill>
            <a:schemeClr val="bg2"/>
          </a:solidFill>
        </p:spPr>
      </p:sp>
      <p:sp>
        <p:nvSpPr>
          <p:cNvPr id="5" name="step-num"/>
          <p:cNvSpPr/>
          <p:nvPr/>
        </p:nvSpPr>
        <p:spPr>
          <a:xfrm>
            <a:off x="822960" y="1920240"/>
            <a:ext cx="548640" cy="548640"/>
          </a:xfrm>
          <a:prstGeom prst="ellipse">
            <a:avLst/>
          </a:prstGeom>
          <a:solidFill>
            <a:schemeClr val="accent1"/>
          </a:solidFill>
        </p:spPr>
      </p:sp>
      <p:sp>
        <p:nvSpPr>
          <p:cNvPr id="6" name="Text 3"/>
          <p:cNvSpPr txBox="1"/>
          <p:nvPr/>
        </p:nvSpPr>
        <p:spPr>
          <a:xfrm>
            <a:off x="822960" y="1920240"/>
            <a:ext cx="548640" cy="548640"/>
          </a:xfrm>
          <a:prstGeom prst="rect">
            <a:avLst/>
          </a:prstGeom>
          <a:noFill/>
        </p:spPr>
        <p:txBody>
          <a:bodyPr wrap="square" lIns="0" tIns="0" rIns="0" bIns="0" rtlCol="0" anchor="ctr"/>
          <a:lstStyle/>
          <a:p>
            <a:pPr marL="0" indent="0" algn="ctr">
              <a:buNone/>
            </a:pPr>
            <a:r>
              <a:rPr 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rPr>
              <a:t>1</a:t>
            </a:r>
            <a:endParaRPr lang="en-US" sz="2000" dirty="0"/>
          </a:p>
        </p:txBody>
      </p:sp>
      <p:sp>
        <p:nvSpPr>
          <p:cNvPr id="7" name="Text 4"/>
          <p:cNvSpPr txBox="1"/>
          <p:nvPr/>
        </p:nvSpPr>
        <p:spPr>
          <a:xfrm>
            <a:off x="822960" y="2651760"/>
            <a:ext cx="1737360" cy="457200"/>
          </a:xfrm>
          <a:prstGeom prst="rect">
            <a:avLst/>
          </a:prstGeom>
          <a:noFill/>
        </p:spPr>
        <p:txBody>
          <a:bodyPr wrap="square" lIns="0" tIns="0" rIns="0" bIns="0" rtlCol="0" anchor="t"/>
          <a:lstStyle/>
          <a:p>
            <a:pPr marL="0" indent="0">
              <a:buNone/>
            </a:pPr>
            <a:r>
              <a:rPr lang="en-US" sz="1900" b="1" dirty="0">
                <a:solidFill>
                  <a:schemeClr val="tx1"/>
                </a:solidFill>
                <a:latin typeface="Cambria" panose="02040503050406030204" pitchFamily="34" charset="0"/>
                <a:ea typeface="Cambria" panose="02040503050406030204" pitchFamily="34" charset="-122"/>
                <a:cs typeface="Cambria" panose="02040503050406030204" pitchFamily="34" charset="-120"/>
              </a:rPr>
              <a:t>Resize</a:t>
            </a:r>
            <a:endParaRPr lang="en-US" sz="1900" dirty="0"/>
          </a:p>
        </p:txBody>
      </p:sp>
      <p:sp>
        <p:nvSpPr>
          <p:cNvPr id="8" name="Text 5"/>
          <p:cNvSpPr txBox="1"/>
          <p:nvPr/>
        </p:nvSpPr>
        <p:spPr>
          <a:xfrm>
            <a:off x="822960" y="3200400"/>
            <a:ext cx="1691640" cy="219456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Cạnh ngắn về 256 px, nội suy Bilinear; xử lý 5.195 ảnh trong 58 giây</a:t>
            </a:r>
            <a:endParaRPr lang="en-US" sz="1500" dirty="0"/>
          </a:p>
        </p:txBody>
      </p:sp>
      <p:sp>
        <p:nvSpPr>
          <p:cNvPr id="9" name="card"/>
          <p:cNvSpPr/>
          <p:nvPr/>
        </p:nvSpPr>
        <p:spPr>
          <a:xfrm>
            <a:off x="2834640" y="1737360"/>
            <a:ext cx="2011680" cy="3749040"/>
          </a:xfrm>
          <a:prstGeom prst="roundRect">
            <a:avLst>
              <a:gd name="adj" fmla="val 5455"/>
            </a:avLst>
          </a:prstGeom>
          <a:solidFill>
            <a:schemeClr val="bg2"/>
          </a:solidFill>
        </p:spPr>
      </p:sp>
      <p:sp>
        <p:nvSpPr>
          <p:cNvPr id="10" name="step-num"/>
          <p:cNvSpPr/>
          <p:nvPr/>
        </p:nvSpPr>
        <p:spPr>
          <a:xfrm>
            <a:off x="3017520" y="1920240"/>
            <a:ext cx="548640" cy="548640"/>
          </a:xfrm>
          <a:prstGeom prst="ellipse">
            <a:avLst/>
          </a:prstGeom>
          <a:solidFill>
            <a:schemeClr val="accent1"/>
          </a:solidFill>
        </p:spPr>
      </p:sp>
      <p:sp>
        <p:nvSpPr>
          <p:cNvPr id="11" name="Text 8"/>
          <p:cNvSpPr txBox="1"/>
          <p:nvPr/>
        </p:nvSpPr>
        <p:spPr>
          <a:xfrm>
            <a:off x="3017520" y="1920240"/>
            <a:ext cx="548640" cy="548640"/>
          </a:xfrm>
          <a:prstGeom prst="rect">
            <a:avLst/>
          </a:prstGeom>
          <a:noFill/>
        </p:spPr>
        <p:txBody>
          <a:bodyPr wrap="square" lIns="0" tIns="0" rIns="0" bIns="0" rtlCol="0" anchor="ctr"/>
          <a:lstStyle/>
          <a:p>
            <a:pPr marL="0" indent="0" algn="ctr">
              <a:buNone/>
            </a:pPr>
            <a:r>
              <a:rPr 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rPr>
              <a:t>2</a:t>
            </a:r>
            <a:endParaRPr lang="en-US" sz="2000" dirty="0"/>
          </a:p>
        </p:txBody>
      </p:sp>
      <p:sp>
        <p:nvSpPr>
          <p:cNvPr id="12" name="Text 9"/>
          <p:cNvSpPr txBox="1"/>
          <p:nvPr/>
        </p:nvSpPr>
        <p:spPr>
          <a:xfrm>
            <a:off x="3017520" y="2651760"/>
            <a:ext cx="1737360" cy="457200"/>
          </a:xfrm>
          <a:prstGeom prst="rect">
            <a:avLst/>
          </a:prstGeom>
          <a:noFill/>
        </p:spPr>
        <p:txBody>
          <a:bodyPr wrap="square" lIns="0" tIns="0" rIns="0" bIns="0" rtlCol="0" anchor="t"/>
          <a:lstStyle/>
          <a:p>
            <a:pPr marL="0" indent="0">
              <a:buNone/>
            </a:pPr>
            <a:r>
              <a:rPr lang="en-US" sz="1900" b="1" dirty="0">
                <a:solidFill>
                  <a:schemeClr val="tx1"/>
                </a:solidFill>
                <a:latin typeface="Cambria" panose="02040503050406030204" pitchFamily="34" charset="0"/>
                <a:ea typeface="Cambria" panose="02040503050406030204" pitchFamily="34" charset="-122"/>
                <a:cs typeface="Cambria" panose="02040503050406030204" pitchFamily="34" charset="-120"/>
              </a:rPr>
              <a:t>Chuẩn hóa</a:t>
            </a:r>
            <a:endParaRPr lang="en-US" sz="1900" dirty="0"/>
          </a:p>
        </p:txBody>
      </p:sp>
      <p:sp>
        <p:nvSpPr>
          <p:cNvPr id="13" name="Text 10"/>
          <p:cNvSpPr txBox="1"/>
          <p:nvPr/>
        </p:nvSpPr>
        <p:spPr>
          <a:xfrm>
            <a:off x="3017520" y="3200400"/>
            <a:ext cx="1691640" cy="219456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Mean = [0,4668; 0,5101; 0,3780], std = [0,2588; 0,2464; 0,2612] tính trên tập train</a:t>
            </a:r>
            <a:endParaRPr lang="en-US" sz="1500" dirty="0"/>
          </a:p>
        </p:txBody>
      </p:sp>
      <p:sp>
        <p:nvSpPr>
          <p:cNvPr id="14" name="card"/>
          <p:cNvSpPr/>
          <p:nvPr/>
        </p:nvSpPr>
        <p:spPr>
          <a:xfrm>
            <a:off x="5029200" y="1737360"/>
            <a:ext cx="2011680" cy="3749040"/>
          </a:xfrm>
          <a:prstGeom prst="roundRect">
            <a:avLst>
              <a:gd name="adj" fmla="val 5455"/>
            </a:avLst>
          </a:prstGeom>
          <a:solidFill>
            <a:schemeClr val="bg2"/>
          </a:solidFill>
        </p:spPr>
      </p:sp>
      <p:sp>
        <p:nvSpPr>
          <p:cNvPr id="15" name="step-num"/>
          <p:cNvSpPr/>
          <p:nvPr/>
        </p:nvSpPr>
        <p:spPr>
          <a:xfrm>
            <a:off x="5212080" y="1920240"/>
            <a:ext cx="548640" cy="548640"/>
          </a:xfrm>
          <a:prstGeom prst="ellipse">
            <a:avLst/>
          </a:prstGeom>
          <a:solidFill>
            <a:schemeClr val="accent1"/>
          </a:solidFill>
        </p:spPr>
      </p:sp>
      <p:sp>
        <p:nvSpPr>
          <p:cNvPr id="16" name="Text 13"/>
          <p:cNvSpPr txBox="1"/>
          <p:nvPr/>
        </p:nvSpPr>
        <p:spPr>
          <a:xfrm>
            <a:off x="5212080" y="1920240"/>
            <a:ext cx="548640" cy="548640"/>
          </a:xfrm>
          <a:prstGeom prst="rect">
            <a:avLst/>
          </a:prstGeom>
          <a:noFill/>
        </p:spPr>
        <p:txBody>
          <a:bodyPr wrap="square" lIns="0" tIns="0" rIns="0" bIns="0" rtlCol="0" anchor="ctr"/>
          <a:lstStyle/>
          <a:p>
            <a:pPr marL="0" indent="0" algn="ctr">
              <a:buNone/>
            </a:pPr>
            <a:r>
              <a:rPr 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rPr>
              <a:t>3</a:t>
            </a:r>
            <a:endParaRPr lang="en-US" sz="2000" dirty="0"/>
          </a:p>
        </p:txBody>
      </p:sp>
      <p:sp>
        <p:nvSpPr>
          <p:cNvPr id="17" name="Text 14"/>
          <p:cNvSpPr txBox="1"/>
          <p:nvPr/>
        </p:nvSpPr>
        <p:spPr>
          <a:xfrm>
            <a:off x="5212080" y="2651760"/>
            <a:ext cx="1737360" cy="457200"/>
          </a:xfrm>
          <a:prstGeom prst="rect">
            <a:avLst/>
          </a:prstGeom>
          <a:noFill/>
        </p:spPr>
        <p:txBody>
          <a:bodyPr wrap="square" lIns="0" tIns="0" rIns="0" bIns="0" rtlCol="0" anchor="t"/>
          <a:lstStyle/>
          <a:p>
            <a:pPr marL="0" indent="0">
              <a:buNone/>
            </a:pPr>
            <a:r>
              <a:rPr lang="en-US" sz="1900" b="1" dirty="0">
                <a:solidFill>
                  <a:schemeClr val="tx1"/>
                </a:solidFill>
                <a:latin typeface="Cambria" panose="02040503050406030204" pitchFamily="34" charset="0"/>
                <a:ea typeface="Cambria" panose="02040503050406030204" pitchFamily="34" charset="-122"/>
                <a:cs typeface="Cambria" panose="02040503050406030204" pitchFamily="34" charset="-120"/>
              </a:rPr>
              <a:t>Làm sáng</a:t>
            </a:r>
            <a:endParaRPr lang="en-US" sz="1900" dirty="0"/>
          </a:p>
        </p:txBody>
      </p:sp>
      <p:sp>
        <p:nvSpPr>
          <p:cNvPr id="18" name="Text 15"/>
          <p:cNvSpPr txBox="1"/>
          <p:nvPr/>
        </p:nvSpPr>
        <p:spPr>
          <a:xfrm>
            <a:off x="5212080" y="3200400"/>
            <a:ext cx="1691640" cy="219456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có độ sáng &lt; 60: khử nhiễu, gamma, CLAHE</a:t>
            </a:r>
            <a:endParaRPr lang="en-US" sz="1500" dirty="0"/>
          </a:p>
        </p:txBody>
      </p:sp>
      <p:sp>
        <p:nvSpPr>
          <p:cNvPr id="19" name="card"/>
          <p:cNvSpPr/>
          <p:nvPr/>
        </p:nvSpPr>
        <p:spPr>
          <a:xfrm>
            <a:off x="7223760" y="1737360"/>
            <a:ext cx="2011680" cy="3749040"/>
          </a:xfrm>
          <a:prstGeom prst="roundRect">
            <a:avLst>
              <a:gd name="adj" fmla="val 5455"/>
            </a:avLst>
          </a:prstGeom>
          <a:solidFill>
            <a:schemeClr val="bg2"/>
          </a:solidFill>
        </p:spPr>
      </p:sp>
      <p:sp>
        <p:nvSpPr>
          <p:cNvPr id="20" name="step-num"/>
          <p:cNvSpPr/>
          <p:nvPr/>
        </p:nvSpPr>
        <p:spPr>
          <a:xfrm>
            <a:off x="7406640" y="1920240"/>
            <a:ext cx="548640" cy="548640"/>
          </a:xfrm>
          <a:prstGeom prst="ellipse">
            <a:avLst/>
          </a:prstGeom>
          <a:solidFill>
            <a:schemeClr val="accent1"/>
          </a:solidFill>
        </p:spPr>
      </p:sp>
      <p:sp>
        <p:nvSpPr>
          <p:cNvPr id="21" name="Text 18"/>
          <p:cNvSpPr txBox="1"/>
          <p:nvPr/>
        </p:nvSpPr>
        <p:spPr>
          <a:xfrm>
            <a:off x="7406640" y="1920240"/>
            <a:ext cx="548640" cy="548640"/>
          </a:xfrm>
          <a:prstGeom prst="rect">
            <a:avLst/>
          </a:prstGeom>
          <a:noFill/>
        </p:spPr>
        <p:txBody>
          <a:bodyPr wrap="square" lIns="0" tIns="0" rIns="0" bIns="0" rtlCol="0" anchor="ctr"/>
          <a:lstStyle/>
          <a:p>
            <a:pPr marL="0" indent="0" algn="ctr">
              <a:buNone/>
            </a:pPr>
            <a:r>
              <a:rPr 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rPr>
              <a:t>4</a:t>
            </a:r>
            <a:endParaRPr lang="en-US" sz="2000" dirty="0"/>
          </a:p>
        </p:txBody>
      </p:sp>
      <p:sp>
        <p:nvSpPr>
          <p:cNvPr id="22" name="Text 19"/>
          <p:cNvSpPr txBox="1"/>
          <p:nvPr/>
        </p:nvSpPr>
        <p:spPr>
          <a:xfrm>
            <a:off x="7406640" y="2651760"/>
            <a:ext cx="1737360" cy="457200"/>
          </a:xfrm>
          <a:prstGeom prst="rect">
            <a:avLst/>
          </a:prstGeom>
          <a:noFill/>
        </p:spPr>
        <p:txBody>
          <a:bodyPr wrap="square" lIns="0" tIns="0" rIns="0" bIns="0" rtlCol="0" anchor="t"/>
          <a:lstStyle/>
          <a:p>
            <a:pPr marL="0" indent="0">
              <a:buNone/>
            </a:pPr>
            <a:r>
              <a:rPr lang="en-US" sz="1900" b="1" dirty="0">
                <a:solidFill>
                  <a:schemeClr val="tx1"/>
                </a:solidFill>
                <a:latin typeface="Cambria" panose="02040503050406030204" pitchFamily="34" charset="0"/>
                <a:ea typeface="Cambria" panose="02040503050406030204" pitchFamily="34" charset="-122"/>
                <a:cs typeface="Cambria" panose="02040503050406030204" pitchFamily="34" charset="-120"/>
              </a:rPr>
              <a:t>Augmentation</a:t>
            </a:r>
            <a:endParaRPr lang="en-US" sz="1900" dirty="0"/>
          </a:p>
        </p:txBody>
      </p:sp>
      <p:sp>
        <p:nvSpPr>
          <p:cNvPr id="23" name="Text 20"/>
          <p:cNvSpPr txBox="1"/>
          <p:nvPr/>
        </p:nvSpPr>
        <p:spPr>
          <a:xfrm>
            <a:off x="7406640" y="3200400"/>
            <a:ext cx="1691640" cy="219456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Cắt vùng nhỏ, lật, xoay, ColorJitter, xóa ngẫu nhiên một mảng</a:t>
            </a:r>
            <a:endParaRPr lang="en-US" sz="1500" dirty="0"/>
          </a:p>
        </p:txBody>
      </p:sp>
      <p:sp>
        <p:nvSpPr>
          <p:cNvPr id="24" name="card"/>
          <p:cNvSpPr/>
          <p:nvPr/>
        </p:nvSpPr>
        <p:spPr>
          <a:xfrm>
            <a:off x="9418320" y="1737360"/>
            <a:ext cx="2011680" cy="3749040"/>
          </a:xfrm>
          <a:prstGeom prst="roundRect">
            <a:avLst>
              <a:gd name="adj" fmla="val 5455"/>
            </a:avLst>
          </a:prstGeom>
          <a:solidFill>
            <a:schemeClr val="bg2"/>
          </a:solidFill>
        </p:spPr>
      </p:sp>
      <p:sp>
        <p:nvSpPr>
          <p:cNvPr id="25" name="step-num"/>
          <p:cNvSpPr/>
          <p:nvPr/>
        </p:nvSpPr>
        <p:spPr>
          <a:xfrm>
            <a:off x="9601200" y="1920240"/>
            <a:ext cx="548640" cy="548640"/>
          </a:xfrm>
          <a:prstGeom prst="ellipse">
            <a:avLst/>
          </a:prstGeom>
          <a:solidFill>
            <a:schemeClr val="accent1"/>
          </a:solidFill>
        </p:spPr>
      </p:sp>
      <p:sp>
        <p:nvSpPr>
          <p:cNvPr id="26" name="Text 23"/>
          <p:cNvSpPr txBox="1"/>
          <p:nvPr/>
        </p:nvSpPr>
        <p:spPr>
          <a:xfrm>
            <a:off x="9601200" y="1920240"/>
            <a:ext cx="548640" cy="548640"/>
          </a:xfrm>
          <a:prstGeom prst="rect">
            <a:avLst/>
          </a:prstGeom>
          <a:noFill/>
        </p:spPr>
        <p:txBody>
          <a:bodyPr wrap="square" lIns="0" tIns="0" rIns="0" bIns="0" rtlCol="0" anchor="ctr"/>
          <a:lstStyle/>
          <a:p>
            <a:pPr marL="0" indent="0" algn="ctr">
              <a:buNone/>
            </a:pPr>
            <a:r>
              <a:rPr lang="en-US" sz="2000" b="1" dirty="0">
                <a:solidFill>
                  <a:schemeClr val="bg1"/>
                </a:solidFill>
                <a:latin typeface="Calibri" panose="020F0502020204030204" pitchFamily="34" charset="0"/>
                <a:ea typeface="Calibri" panose="020F0502020204030204" pitchFamily="34" charset="-122"/>
                <a:cs typeface="Calibri" panose="020F0502020204030204" pitchFamily="34" charset="-120"/>
              </a:rPr>
              <a:t>5</a:t>
            </a:r>
            <a:endParaRPr lang="en-US" sz="2000" dirty="0"/>
          </a:p>
        </p:txBody>
      </p:sp>
      <p:sp>
        <p:nvSpPr>
          <p:cNvPr id="27" name="Text 24"/>
          <p:cNvSpPr txBox="1"/>
          <p:nvPr/>
        </p:nvSpPr>
        <p:spPr>
          <a:xfrm>
            <a:off x="9601200" y="2651760"/>
            <a:ext cx="1737360" cy="457200"/>
          </a:xfrm>
          <a:prstGeom prst="rect">
            <a:avLst/>
          </a:prstGeom>
          <a:noFill/>
        </p:spPr>
        <p:txBody>
          <a:bodyPr wrap="square" lIns="0" tIns="0" rIns="0" bIns="0" rtlCol="0" anchor="t"/>
          <a:lstStyle/>
          <a:p>
            <a:pPr marL="0" indent="0">
              <a:buNone/>
            </a:pPr>
            <a:r>
              <a:rPr lang="en-US" sz="1900" b="1" dirty="0">
                <a:solidFill>
                  <a:schemeClr val="tx1"/>
                </a:solidFill>
                <a:latin typeface="Cambria" panose="02040503050406030204" pitchFamily="34" charset="0"/>
                <a:ea typeface="Cambria" panose="02040503050406030204" pitchFamily="34" charset="-122"/>
                <a:cs typeface="Cambria" panose="02040503050406030204" pitchFamily="34" charset="-120"/>
              </a:rPr>
              <a:t>Class weighting</a:t>
            </a:r>
            <a:endParaRPr lang="en-US" sz="1900" dirty="0"/>
          </a:p>
        </p:txBody>
      </p:sp>
      <p:sp>
        <p:nvSpPr>
          <p:cNvPr id="28" name="Text 25"/>
          <p:cNvSpPr txBox="1"/>
          <p:nvPr/>
        </p:nvSpPr>
        <p:spPr>
          <a:xfrm>
            <a:off x="9601200" y="3200400"/>
            <a:ext cx="1691640" cy="219456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Trọng số căn bậc hai của nghịch đảo tần suất lớp</a:t>
            </a:r>
            <a:endParaRPr lang="en-US" sz="1500" dirty="0"/>
          </a:p>
        </p:txBody>
      </p:sp>
      <p:sp>
        <p:nvSpPr>
          <p:cNvPr id="29" name="Text 26"/>
          <p:cNvSpPr txBox="1"/>
          <p:nvPr/>
        </p:nvSpPr>
        <p:spPr>
          <a:xfrm>
            <a:off x="640080" y="5669280"/>
            <a:ext cx="10881360" cy="45720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Ảnh validation và test không bị augmentation, chỉ làm sáng (nếu tối), resize, cắt giữa 224x224 và chuẩn hóa.</a:t>
            </a:r>
            <a:endParaRPr lang="en-US" sz="1500" dirty="0"/>
          </a:p>
        </p:txBody>
      </p:sp>
      <p:sp>
        <p:nvSpPr>
          <p:cNvPr id="3"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Làm sáng ảnh tối: khử nhiễu, gamma, CLAHE</a:t>
            </a:r>
            <a:endParaRPr lang="en-US" sz="3200" dirty="0"/>
          </a:p>
        </p:txBody>
      </p:sp>
      <p:sp>
        <p:nvSpPr>
          <p:cNvPr id="4" name="card"/>
          <p:cNvSpPr/>
          <p:nvPr/>
        </p:nvSpPr>
        <p:spPr>
          <a:xfrm>
            <a:off x="640080" y="1508760"/>
            <a:ext cx="6766560" cy="4572000"/>
          </a:xfrm>
          <a:prstGeom prst="roundRect">
            <a:avLst>
              <a:gd name="adj" fmla="val 2400"/>
            </a:avLst>
          </a:prstGeom>
          <a:solidFill>
            <a:schemeClr val="bg2"/>
          </a:solidFill>
        </p:spPr>
      </p:sp>
      <p:pic>
        <p:nvPicPr>
          <p:cNvPr id="5" name="trước và sau khi làm sáng" descr="trước và sau khi làm sáng"/>
          <p:cNvPicPr>
            <a:picLocks noChangeAspect="1"/>
          </p:cNvPicPr>
          <p:nvPr/>
        </p:nvPicPr>
        <p:blipFill>
          <a:blip r:embed="rId1"/>
          <a:stretch>
            <a:fillRect/>
          </a:stretch>
        </p:blipFill>
        <p:spPr>
          <a:xfrm>
            <a:off x="731520" y="1883508"/>
            <a:ext cx="6583680" cy="3822504"/>
          </a:xfrm>
          <a:prstGeom prst="rect">
            <a:avLst/>
          </a:prstGeom>
        </p:spPr>
      </p:pic>
      <p:sp>
        <p:nvSpPr>
          <p:cNvPr id="6" name="card"/>
          <p:cNvSpPr/>
          <p:nvPr/>
        </p:nvSpPr>
        <p:spPr>
          <a:xfrm>
            <a:off x="7635240" y="1508760"/>
            <a:ext cx="3931920" cy="4572000"/>
          </a:xfrm>
          <a:prstGeom prst="roundRect">
            <a:avLst>
              <a:gd name="adj" fmla="val 2791"/>
            </a:avLst>
          </a:prstGeom>
          <a:solidFill>
            <a:schemeClr val="tx1"/>
          </a:solidFill>
        </p:spPr>
      </p:sp>
      <p:sp>
        <p:nvSpPr>
          <p:cNvPr id="7" name="Text 3"/>
          <p:cNvSpPr txBox="1"/>
          <p:nvPr/>
        </p:nvSpPr>
        <p:spPr>
          <a:xfrm>
            <a:off x="7955280" y="1691640"/>
            <a:ext cx="3383280" cy="731520"/>
          </a:xfrm>
          <a:prstGeom prst="rect">
            <a:avLst/>
          </a:prstGeom>
          <a:noFill/>
        </p:spPr>
        <p:txBody>
          <a:bodyPr wrap="square" lIns="0" tIns="0" rIns="0" bIns="0" rtlCol="0" anchor="t"/>
          <a:lstStyle/>
          <a:p>
            <a:pPr marL="0" indent="0">
              <a:buNone/>
            </a:pPr>
            <a:r>
              <a:rPr lang="en-US" sz="20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Ba bước, chỉ khi độ sáng &lt; 60</a:t>
            </a:r>
            <a:endParaRPr lang="en-US" sz="2000" dirty="0"/>
          </a:p>
        </p:txBody>
      </p:sp>
      <p:sp>
        <p:nvSpPr>
          <p:cNvPr id="8" name="Text 4"/>
          <p:cNvSpPr txBox="1"/>
          <p:nvPr/>
        </p:nvSpPr>
        <p:spPr>
          <a:xfrm>
            <a:off x="7955280" y="2560320"/>
            <a:ext cx="3383280" cy="329184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bg1"/>
                </a:solidFill>
                <a:latin typeface="Calibri" panose="020F0502020204030204" pitchFamily="34" charset="0"/>
                <a:ea typeface="Calibri" panose="020F0502020204030204" pitchFamily="34" charset="-122"/>
                <a:cs typeface="Calibri" panose="020F0502020204030204" pitchFamily="34" charset="-120"/>
              </a:rPr>
              <a:t>Bilateral filter: giảm nhiễu hạt, giữ cạnh</a:t>
            </a:r>
            <a:endParaRPr lang="en-US" sz="1900" dirty="0"/>
          </a:p>
          <a:p>
            <a:pPr marL="203200" indent="-203200">
              <a:spcAft>
                <a:spcPts val="800"/>
              </a:spcAft>
              <a:buSzPct val="100000"/>
              <a:buChar char="•"/>
            </a:pPr>
            <a:r>
              <a:rPr lang="en-US" sz="1900" dirty="0">
                <a:solidFill>
                  <a:schemeClr val="bg1"/>
                </a:solidFill>
                <a:latin typeface="Calibri" panose="020F0502020204030204" pitchFamily="34" charset="0"/>
                <a:ea typeface="Calibri" panose="020F0502020204030204" pitchFamily="34" charset="-122"/>
                <a:cs typeface="Calibri" panose="020F0502020204030204" pitchFamily="34" charset="-120"/>
              </a:rPr>
              <a:t>Gamma 0,35: nâng vùng tối</a:t>
            </a:r>
            <a:endParaRPr lang="en-US" sz="1900" dirty="0"/>
          </a:p>
          <a:p>
            <a:pPr marL="203200" indent="-203200">
              <a:spcAft>
                <a:spcPts val="800"/>
              </a:spcAft>
              <a:buSzPct val="100000"/>
              <a:buChar char="•"/>
            </a:pPr>
            <a:r>
              <a:rPr lang="en-US" sz="1900" dirty="0">
                <a:solidFill>
                  <a:schemeClr val="bg1"/>
                </a:solidFill>
                <a:latin typeface="Calibri" panose="020F0502020204030204" pitchFamily="34" charset="0"/>
                <a:ea typeface="Calibri" panose="020F0502020204030204" pitchFamily="34" charset="-122"/>
                <a:cs typeface="Calibri" panose="020F0502020204030204" pitchFamily="34" charset="-120"/>
              </a:rPr>
              <a:t>CLAHE trên kênh L (clip 2,0, lưới 8x8): làm rõ chi tiết mà không đổi màu cành</a:t>
            </a:r>
            <a:endParaRPr lang="en-US" sz="19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Augmentation mạnh và trọng số lớp</a:t>
            </a:r>
            <a:endParaRPr lang="en-US" sz="3200" dirty="0"/>
          </a:p>
        </p:txBody>
      </p:sp>
      <p:sp>
        <p:nvSpPr>
          <p:cNvPr id="4" name="card"/>
          <p:cNvSpPr/>
          <p:nvPr/>
        </p:nvSpPr>
        <p:spPr>
          <a:xfrm>
            <a:off x="640080" y="1508760"/>
            <a:ext cx="6400800" cy="2377440"/>
          </a:xfrm>
          <a:prstGeom prst="roundRect">
            <a:avLst>
              <a:gd name="adj" fmla="val 4615"/>
            </a:avLst>
          </a:prstGeom>
          <a:solidFill>
            <a:schemeClr val="bg2"/>
          </a:solidFill>
        </p:spPr>
      </p:sp>
      <p:pic>
        <p:nvPicPr>
          <p:cNvPr id="5" name="batch augmentation" descr="batch augmentation"/>
          <p:cNvPicPr>
            <a:picLocks noChangeAspect="1"/>
          </p:cNvPicPr>
          <p:nvPr/>
        </p:nvPicPr>
        <p:blipFill>
          <a:blip r:embed="rId1"/>
          <a:stretch>
            <a:fillRect/>
          </a:stretch>
        </p:blipFill>
        <p:spPr>
          <a:xfrm>
            <a:off x="849780" y="1600200"/>
            <a:ext cx="5981399" cy="2194560"/>
          </a:xfrm>
          <a:prstGeom prst="rect">
            <a:avLst/>
          </a:prstGeom>
        </p:spPr>
      </p:pic>
      <p:sp>
        <p:nvSpPr>
          <p:cNvPr id="6" name="Text 2"/>
          <p:cNvSpPr txBox="1"/>
          <p:nvPr/>
        </p:nvSpPr>
        <p:spPr>
          <a:xfrm>
            <a:off x="640080" y="4114800"/>
            <a:ext cx="6400800" cy="201168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RandomResizedCrop: vùng 25% đến 100% diện tích</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Lật ngang, lật dọc; xoay ±20°</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ColorJitter; RandomErasing (p = 0,25)</a:t>
            </a:r>
            <a:endParaRPr lang="en-US" sz="1900" dirty="0"/>
          </a:p>
        </p:txBody>
      </p:sp>
      <p:sp>
        <p:nvSpPr>
          <p:cNvPr id="7" name="card"/>
          <p:cNvSpPr/>
          <p:nvPr/>
        </p:nvSpPr>
        <p:spPr>
          <a:xfrm>
            <a:off x="7315200" y="1508760"/>
            <a:ext cx="4251960" cy="4572000"/>
          </a:xfrm>
          <a:prstGeom prst="roundRect">
            <a:avLst>
              <a:gd name="adj" fmla="val 2581"/>
            </a:avLst>
          </a:prstGeom>
          <a:solidFill>
            <a:schemeClr val="tx1"/>
          </a:solidFill>
        </p:spPr>
      </p:sp>
      <p:sp>
        <p:nvSpPr>
          <p:cNvPr id="8" name="Text 4"/>
          <p:cNvSpPr txBox="1"/>
          <p:nvPr/>
        </p:nvSpPr>
        <p:spPr>
          <a:xfrm>
            <a:off x="7635240" y="1691640"/>
            <a:ext cx="3657600" cy="457200"/>
          </a:xfrm>
          <a:prstGeom prst="rect">
            <a:avLst/>
          </a:prstGeom>
          <a:noFill/>
        </p:spPr>
        <p:txBody>
          <a:bodyPr wrap="square" lIns="0" tIns="0" rIns="0" bIns="0" rtlCol="0" anchor="t"/>
          <a:lstStyle/>
          <a:p>
            <a:pPr marL="0" indent="0">
              <a:buNone/>
            </a:pPr>
            <a:r>
              <a:rPr lang="en-US" sz="22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Class weighting</a:t>
            </a:r>
            <a:endParaRPr lang="en-US" sz="2200" dirty="0"/>
          </a:p>
        </p:txBody>
      </p:sp>
      <p:sp>
        <p:nvSpPr>
          <p:cNvPr id="9" name="Text 5"/>
          <p:cNvSpPr txBox="1"/>
          <p:nvPr/>
        </p:nvSpPr>
        <p:spPr>
          <a:xfrm>
            <a:off x="7635240" y="2286000"/>
            <a:ext cx="3657600" cy="548640"/>
          </a:xfrm>
          <a:prstGeom prst="rect">
            <a:avLst/>
          </a:prstGeom>
          <a:noFill/>
        </p:spPr>
        <p:txBody>
          <a:bodyPr wrap="square" lIns="0" tIns="0" rIns="0" bIns="0" rtlCol="0" anchor="t"/>
          <a:lstStyle/>
          <a:p>
            <a:pPr marL="0" indent="0">
              <a:buNone/>
            </a:pPr>
            <a:r>
              <a:rPr lang="en-US" sz="2400" b="1" dirty="0">
                <a:solidFill>
                  <a:schemeClr val="bg1"/>
                </a:solidFill>
                <a:latin typeface="Cambria" panose="02040503050406030204" pitchFamily="34" charset="0"/>
                <a:ea typeface="Cambria" panose="02040503050406030204" pitchFamily="34" charset="-122"/>
                <a:cs typeface="Cambria" panose="02040503050406030204" pitchFamily="34" charset="-120"/>
              </a:rPr>
              <a:t>w = √( N / (C · n_c) )</a:t>
            </a:r>
            <a:endParaRPr lang="en-US" sz="2400" dirty="0"/>
          </a:p>
        </p:txBody>
      </p:sp>
      <p:sp>
        <p:nvSpPr>
          <p:cNvPr id="10" name="Text 6"/>
          <p:cNvSpPr txBox="1"/>
          <p:nvPr/>
        </p:nvSpPr>
        <p:spPr>
          <a:xfrm>
            <a:off x="7635240" y="3017520"/>
            <a:ext cx="3657600" cy="2926080"/>
          </a:xfrm>
          <a:prstGeom prst="rect">
            <a:avLst/>
          </a:prstGeom>
          <a:noFill/>
        </p:spPr>
        <p:txBody>
          <a:bodyPr wrap="square" lIns="0" tIns="0" rIns="0" bIns="0" rtlCol="0" anchor="t"/>
          <a:lstStyle/>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Lớp 424 ảnh (khỏe mạnh): w = 0,52</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Lớp 37 ảnh (Tomato mosaic virus): w = 1,76</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Lấy căn bậc hai để chênh lệch chỉ còn ~3 lần thay vì 11 lần</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Kèm label smoothing 0,1</a:t>
            </a:r>
            <a:endParaRPr lang="en-US" sz="17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Random Forest trên 154 đặc trưng màu sắc và kết cấu</a:t>
            </a:r>
            <a:endParaRPr lang="en-US" sz="3200" dirty="0"/>
          </a:p>
        </p:txBody>
      </p:sp>
      <p:sp>
        <p:nvSpPr>
          <p:cNvPr id="4" name="card"/>
          <p:cNvSpPr/>
          <p:nvPr/>
        </p:nvSpPr>
        <p:spPr>
          <a:xfrm>
            <a:off x="640080" y="1554480"/>
            <a:ext cx="2560320" cy="2286000"/>
          </a:xfrm>
          <a:prstGeom prst="roundRect">
            <a:avLst>
              <a:gd name="adj" fmla="val 4800"/>
            </a:avLst>
          </a:prstGeom>
          <a:solidFill>
            <a:schemeClr val="bg2"/>
          </a:solidFill>
        </p:spPr>
      </p:sp>
      <p:sp>
        <p:nvSpPr>
          <p:cNvPr id="5" name="Text 2"/>
          <p:cNvSpPr txBox="1"/>
          <p:nvPr/>
        </p:nvSpPr>
        <p:spPr>
          <a:xfrm>
            <a:off x="868680" y="1691640"/>
            <a:ext cx="210312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128</a:t>
            </a:r>
            <a:endParaRPr lang="en-US" sz="4000" dirty="0"/>
          </a:p>
        </p:txBody>
      </p:sp>
      <p:sp>
        <p:nvSpPr>
          <p:cNvPr id="6" name="Text 3"/>
          <p:cNvSpPr txBox="1"/>
          <p:nvPr/>
        </p:nvSpPr>
        <p:spPr>
          <a:xfrm>
            <a:off x="868680" y="2423160"/>
            <a:ext cx="2103120" cy="365760"/>
          </a:xfrm>
          <a:prstGeom prst="rect">
            <a:avLst/>
          </a:prstGeom>
          <a:noFill/>
        </p:spPr>
        <p:txBody>
          <a:bodyPr wrap="square" lIns="0" tIns="0" rIns="0" bIns="0" rtlCol="0" anchor="t"/>
          <a:lstStyle/>
          <a:p>
            <a:pPr marL="0" indent="0">
              <a:buNone/>
            </a:pPr>
            <a:r>
              <a:rPr lang="en-US" sz="1800" b="1" dirty="0">
                <a:solidFill>
                  <a:schemeClr val="tx1"/>
                </a:solidFill>
                <a:latin typeface="Calibri" panose="020F0502020204030204" pitchFamily="34" charset="0"/>
                <a:ea typeface="Calibri" panose="020F0502020204030204" pitchFamily="34" charset="-122"/>
                <a:cs typeface="Calibri" panose="020F0502020204030204" pitchFamily="34" charset="-120"/>
              </a:rPr>
              <a:t>Histogram HSV</a:t>
            </a:r>
            <a:endParaRPr lang="en-US" sz="1800" dirty="0"/>
          </a:p>
        </p:txBody>
      </p:sp>
      <p:sp>
        <p:nvSpPr>
          <p:cNvPr id="7" name="Text 4"/>
          <p:cNvSpPr txBox="1"/>
          <p:nvPr/>
        </p:nvSpPr>
        <p:spPr>
          <a:xfrm>
            <a:off x="868680" y="2834640"/>
            <a:ext cx="2148840" cy="91440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8 khoảng H, 4 khoảng S, 4 khoảng V</a:t>
            </a:r>
            <a:endParaRPr lang="en-US" sz="1600" dirty="0"/>
          </a:p>
        </p:txBody>
      </p:sp>
      <p:sp>
        <p:nvSpPr>
          <p:cNvPr id="8" name="card"/>
          <p:cNvSpPr/>
          <p:nvPr/>
        </p:nvSpPr>
        <p:spPr>
          <a:xfrm>
            <a:off x="3383280" y="1554480"/>
            <a:ext cx="2560320" cy="2286000"/>
          </a:xfrm>
          <a:prstGeom prst="roundRect">
            <a:avLst>
              <a:gd name="adj" fmla="val 4800"/>
            </a:avLst>
          </a:prstGeom>
          <a:solidFill>
            <a:schemeClr val="bg2"/>
          </a:solidFill>
        </p:spPr>
      </p:sp>
      <p:sp>
        <p:nvSpPr>
          <p:cNvPr id="9" name="Text 6"/>
          <p:cNvSpPr txBox="1"/>
          <p:nvPr/>
        </p:nvSpPr>
        <p:spPr>
          <a:xfrm>
            <a:off x="3611880" y="1691640"/>
            <a:ext cx="210312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6</a:t>
            </a:r>
            <a:endParaRPr lang="en-US" sz="4000" dirty="0"/>
          </a:p>
        </p:txBody>
      </p:sp>
      <p:sp>
        <p:nvSpPr>
          <p:cNvPr id="10" name="Text 7"/>
          <p:cNvSpPr txBox="1"/>
          <p:nvPr/>
        </p:nvSpPr>
        <p:spPr>
          <a:xfrm>
            <a:off x="3611880" y="2423160"/>
            <a:ext cx="2103120" cy="365760"/>
          </a:xfrm>
          <a:prstGeom prst="rect">
            <a:avLst/>
          </a:prstGeom>
          <a:noFill/>
        </p:spPr>
        <p:txBody>
          <a:bodyPr wrap="square" lIns="0" tIns="0" rIns="0" bIns="0" rtlCol="0" anchor="t"/>
          <a:lstStyle/>
          <a:p>
            <a:pPr marL="0" indent="0">
              <a:buNone/>
            </a:pPr>
            <a:r>
              <a:rPr lang="en-US" sz="1800" b="1" dirty="0">
                <a:solidFill>
                  <a:schemeClr val="tx1"/>
                </a:solidFill>
                <a:latin typeface="Calibri" panose="020F0502020204030204" pitchFamily="34" charset="0"/>
                <a:ea typeface="Calibri" panose="020F0502020204030204" pitchFamily="34" charset="-122"/>
                <a:cs typeface="Calibri" panose="020F0502020204030204" pitchFamily="34" charset="-120"/>
              </a:rPr>
              <a:t>Thống kê màu</a:t>
            </a:r>
            <a:endParaRPr lang="en-US" sz="1800" dirty="0"/>
          </a:p>
        </p:txBody>
      </p:sp>
      <p:sp>
        <p:nvSpPr>
          <p:cNvPr id="11" name="Text 8"/>
          <p:cNvSpPr txBox="1"/>
          <p:nvPr/>
        </p:nvSpPr>
        <p:spPr>
          <a:xfrm>
            <a:off x="3611880" y="2834640"/>
            <a:ext cx="2148840" cy="91440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Trung bình và độ lệch chuẩn của H, S, V</a:t>
            </a:r>
            <a:endParaRPr lang="en-US" sz="1600" dirty="0"/>
          </a:p>
        </p:txBody>
      </p:sp>
      <p:sp>
        <p:nvSpPr>
          <p:cNvPr id="12" name="card"/>
          <p:cNvSpPr/>
          <p:nvPr/>
        </p:nvSpPr>
        <p:spPr>
          <a:xfrm>
            <a:off x="6126480" y="1554480"/>
            <a:ext cx="2560320" cy="2286000"/>
          </a:xfrm>
          <a:prstGeom prst="roundRect">
            <a:avLst>
              <a:gd name="adj" fmla="val 4800"/>
            </a:avLst>
          </a:prstGeom>
          <a:solidFill>
            <a:schemeClr val="bg2"/>
          </a:solidFill>
        </p:spPr>
      </p:sp>
      <p:sp>
        <p:nvSpPr>
          <p:cNvPr id="13" name="Text 10"/>
          <p:cNvSpPr txBox="1"/>
          <p:nvPr/>
        </p:nvSpPr>
        <p:spPr>
          <a:xfrm>
            <a:off x="6355080" y="1691640"/>
            <a:ext cx="210312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10</a:t>
            </a:r>
            <a:endParaRPr lang="en-US" sz="4000" dirty="0"/>
          </a:p>
        </p:txBody>
      </p:sp>
      <p:sp>
        <p:nvSpPr>
          <p:cNvPr id="14" name="Text 11"/>
          <p:cNvSpPr txBox="1"/>
          <p:nvPr/>
        </p:nvSpPr>
        <p:spPr>
          <a:xfrm>
            <a:off x="6355080" y="2423160"/>
            <a:ext cx="2103120" cy="365760"/>
          </a:xfrm>
          <a:prstGeom prst="rect">
            <a:avLst/>
          </a:prstGeom>
          <a:noFill/>
        </p:spPr>
        <p:txBody>
          <a:bodyPr wrap="square" lIns="0" tIns="0" rIns="0" bIns="0" rtlCol="0" anchor="t"/>
          <a:lstStyle/>
          <a:p>
            <a:pPr marL="0" indent="0">
              <a:buNone/>
            </a:pPr>
            <a:r>
              <a:rPr lang="en-US" sz="1800" b="1" dirty="0">
                <a:solidFill>
                  <a:schemeClr val="tx1"/>
                </a:solidFill>
                <a:latin typeface="Calibri" panose="020F0502020204030204" pitchFamily="34" charset="0"/>
                <a:ea typeface="Calibri" panose="020F0502020204030204" pitchFamily="34" charset="-122"/>
                <a:cs typeface="Calibri" panose="020F0502020204030204" pitchFamily="34" charset="-120"/>
              </a:rPr>
              <a:t>LBP</a:t>
            </a:r>
            <a:endParaRPr lang="en-US" sz="1800" dirty="0"/>
          </a:p>
        </p:txBody>
      </p:sp>
      <p:sp>
        <p:nvSpPr>
          <p:cNvPr id="15" name="Text 12"/>
          <p:cNvSpPr txBox="1"/>
          <p:nvPr/>
        </p:nvSpPr>
        <p:spPr>
          <a:xfrm>
            <a:off x="6355080" y="2834640"/>
            <a:ext cx="2148840" cy="91440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Mẫu nhị phân cục bộ, đo kết cấu bề mặt</a:t>
            </a:r>
            <a:endParaRPr lang="en-US" sz="1600" dirty="0"/>
          </a:p>
        </p:txBody>
      </p:sp>
      <p:sp>
        <p:nvSpPr>
          <p:cNvPr id="16" name="card"/>
          <p:cNvSpPr/>
          <p:nvPr/>
        </p:nvSpPr>
        <p:spPr>
          <a:xfrm>
            <a:off x="8869680" y="1554480"/>
            <a:ext cx="2560320" cy="2286000"/>
          </a:xfrm>
          <a:prstGeom prst="roundRect">
            <a:avLst>
              <a:gd name="adj" fmla="val 4800"/>
            </a:avLst>
          </a:prstGeom>
          <a:solidFill>
            <a:schemeClr val="bg2"/>
          </a:solidFill>
        </p:spPr>
      </p:sp>
      <p:sp>
        <p:nvSpPr>
          <p:cNvPr id="17" name="Text 14"/>
          <p:cNvSpPr txBox="1"/>
          <p:nvPr/>
        </p:nvSpPr>
        <p:spPr>
          <a:xfrm>
            <a:off x="9098280" y="1691640"/>
            <a:ext cx="2103120" cy="731520"/>
          </a:xfrm>
          <a:prstGeom prst="rect">
            <a:avLst/>
          </a:prstGeom>
          <a:noFill/>
        </p:spPr>
        <p:txBody>
          <a:bodyPr wrap="square" lIns="0" tIns="0" rIns="0" bIns="0" rtlCol="0" anchor="t"/>
          <a:lstStyle/>
          <a:p>
            <a:pPr marL="0" indent="0">
              <a:buNone/>
            </a:pPr>
            <a:r>
              <a:rPr lang="en-US" sz="40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10</a:t>
            </a:r>
            <a:endParaRPr lang="en-US" sz="4000" dirty="0"/>
          </a:p>
        </p:txBody>
      </p:sp>
      <p:sp>
        <p:nvSpPr>
          <p:cNvPr id="18" name="Text 15"/>
          <p:cNvSpPr txBox="1"/>
          <p:nvPr/>
        </p:nvSpPr>
        <p:spPr>
          <a:xfrm>
            <a:off x="9098280" y="2423160"/>
            <a:ext cx="2103120" cy="365760"/>
          </a:xfrm>
          <a:prstGeom prst="rect">
            <a:avLst/>
          </a:prstGeom>
          <a:noFill/>
        </p:spPr>
        <p:txBody>
          <a:bodyPr wrap="square" lIns="0" tIns="0" rIns="0" bIns="0" rtlCol="0" anchor="t"/>
          <a:lstStyle/>
          <a:p>
            <a:pPr marL="0" indent="0">
              <a:buNone/>
            </a:pPr>
            <a:r>
              <a:rPr lang="en-US" sz="1800" b="1" dirty="0">
                <a:solidFill>
                  <a:schemeClr val="tx1"/>
                </a:solidFill>
                <a:latin typeface="Calibri" panose="020F0502020204030204" pitchFamily="34" charset="0"/>
                <a:ea typeface="Calibri" panose="020F0502020204030204" pitchFamily="34" charset="-122"/>
                <a:cs typeface="Calibri" panose="020F0502020204030204" pitchFamily="34" charset="-120"/>
              </a:rPr>
              <a:t>GLCM</a:t>
            </a:r>
            <a:endParaRPr lang="en-US" sz="1800" dirty="0"/>
          </a:p>
        </p:txBody>
      </p:sp>
      <p:sp>
        <p:nvSpPr>
          <p:cNvPr id="19" name="Text 16"/>
          <p:cNvSpPr txBox="1"/>
          <p:nvPr/>
        </p:nvSpPr>
        <p:spPr>
          <a:xfrm>
            <a:off x="9098280" y="2834640"/>
            <a:ext cx="2148840" cy="91440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5 chỉ số Haralick ở 2 khoảng cách</a:t>
            </a:r>
            <a:endParaRPr lang="en-US" sz="1600" dirty="0"/>
          </a:p>
        </p:txBody>
      </p:sp>
      <p:sp>
        <p:nvSpPr>
          <p:cNvPr id="20" name="card"/>
          <p:cNvSpPr/>
          <p:nvPr/>
        </p:nvSpPr>
        <p:spPr>
          <a:xfrm>
            <a:off x="640080" y="4114800"/>
            <a:ext cx="10927080" cy="1965960"/>
          </a:xfrm>
          <a:prstGeom prst="roundRect">
            <a:avLst>
              <a:gd name="adj" fmla="val 5581"/>
            </a:avLst>
          </a:prstGeom>
          <a:solidFill>
            <a:schemeClr val="tx1"/>
          </a:solidFill>
        </p:spPr>
      </p:sp>
      <p:sp>
        <p:nvSpPr>
          <p:cNvPr id="21" name="Text 18"/>
          <p:cNvSpPr txBox="1"/>
          <p:nvPr/>
        </p:nvSpPr>
        <p:spPr>
          <a:xfrm>
            <a:off x="1005840" y="4297680"/>
            <a:ext cx="10241280" cy="1737360"/>
          </a:xfrm>
          <a:prstGeom prst="rect">
            <a:avLst/>
          </a:prstGeom>
          <a:noFill/>
        </p:spPr>
        <p:txBody>
          <a:bodyPr wrap="square" lIns="0" tIns="0" rIns="0" bIns="0" rtlCol="0" anchor="t"/>
          <a:lstStyle/>
          <a:p>
            <a:pPr marL="203200" indent="-203200">
              <a:spcAft>
                <a:spcPts val="800"/>
              </a:spcAft>
              <a:buSzPct val="100000"/>
              <a:buChar char="•"/>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400 cây, class_weight; tinh chỉnh max_features ∈ {sqrt, 0,3} và min_samples_leaf ∈ {1, 3} theo macro F1</a:t>
            </a:r>
            <a:endParaRPr lang="en-US" sz="2000" dirty="0"/>
          </a:p>
          <a:p>
            <a:pPr marL="203200" indent="-203200">
              <a:spcAft>
                <a:spcPts val="800"/>
              </a:spcAft>
              <a:buSzPct val="100000"/>
              <a:buChar char="•"/>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Cấu hình tốt nhất: max_features = 0,3, min_samples_leaf = 1; macro F1 trên validation = 0,3918</a:t>
            </a:r>
            <a:endParaRPr lang="en-US" sz="2000" dirty="0"/>
          </a:p>
          <a:p>
            <a:pPr marL="203200" indent="-203200">
              <a:spcAft>
                <a:spcPts val="800"/>
              </a:spcAft>
              <a:buSzPct val="100000"/>
              <a:buChar char="•"/>
            </a:pPr>
            <a:r>
              <a:rPr lang="en-US" sz="2000" dirty="0">
                <a:solidFill>
                  <a:schemeClr val="bg1"/>
                </a:solidFill>
                <a:latin typeface="Calibri" panose="020F0502020204030204" pitchFamily="34" charset="0"/>
                <a:ea typeface="Calibri" panose="020F0502020204030204" pitchFamily="34" charset="-122"/>
                <a:cs typeface="Calibri" panose="020F0502020204030204" pitchFamily="34" charset="-120"/>
              </a:rPr>
              <a:t>Độ quan trọng đặc trưng trải đều (0,014 đến 0,020): không có đặc trưng nào vượt trội</a:t>
            </a:r>
            <a:endParaRPr lang="en-US" sz="20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Hai mạng học sâu huấn luyện từ đầu</a:t>
            </a:r>
            <a:endParaRPr lang="en-US" sz="3200" dirty="0"/>
          </a:p>
        </p:txBody>
      </p:sp>
      <p:sp>
        <p:nvSpPr>
          <p:cNvPr id="4" name="card"/>
          <p:cNvSpPr/>
          <p:nvPr/>
        </p:nvSpPr>
        <p:spPr>
          <a:xfrm>
            <a:off x="640080" y="1554480"/>
            <a:ext cx="5303520" cy="2926080"/>
          </a:xfrm>
          <a:prstGeom prst="roundRect">
            <a:avLst>
              <a:gd name="adj" fmla="val 3750"/>
            </a:avLst>
          </a:prstGeom>
          <a:solidFill>
            <a:schemeClr val="bg2"/>
          </a:solidFill>
        </p:spPr>
      </p:sp>
      <p:sp>
        <p:nvSpPr>
          <p:cNvPr id="5" name="Text 2"/>
          <p:cNvSpPr txBox="1"/>
          <p:nvPr/>
        </p:nvSpPr>
        <p:spPr>
          <a:xfrm>
            <a:off x="960120" y="1737360"/>
            <a:ext cx="4572000" cy="457200"/>
          </a:xfrm>
          <a:prstGeom prst="rect">
            <a:avLst/>
          </a:prstGeom>
          <a:noFill/>
        </p:spPr>
        <p:txBody>
          <a:bodyPr wrap="square" lIns="0" tIns="0" rIns="0" bIns="0" rtlCol="0" anchor="t"/>
          <a:lstStyle/>
          <a:p>
            <a:pPr marL="0" indent="0">
              <a:buNone/>
            </a:pPr>
            <a:r>
              <a:rPr lang="en-US" sz="24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CNN tự xây</a:t>
            </a:r>
            <a:endParaRPr lang="en-US" sz="2400" dirty="0"/>
          </a:p>
        </p:txBody>
      </p:sp>
      <p:sp>
        <p:nvSpPr>
          <p:cNvPr id="6" name="Text 3"/>
          <p:cNvSpPr txBox="1"/>
          <p:nvPr/>
        </p:nvSpPr>
        <p:spPr>
          <a:xfrm>
            <a:off x="960120" y="2331720"/>
            <a:ext cx="4754880" cy="210312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5 khối × (2 lớp Conv 3x3 + BatchNorm + ReLU + MaxPool)</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Số kênh 32, 64, 128, 256, 256; GAP, Dropout 0,4</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2.362.369 tham số</a:t>
            </a:r>
            <a:endParaRPr lang="en-US" sz="1900" dirty="0"/>
          </a:p>
        </p:txBody>
      </p:sp>
      <p:sp>
        <p:nvSpPr>
          <p:cNvPr id="7" name="card"/>
          <p:cNvSpPr/>
          <p:nvPr/>
        </p:nvSpPr>
        <p:spPr>
          <a:xfrm>
            <a:off x="6263640" y="1554480"/>
            <a:ext cx="5303520" cy="2926080"/>
          </a:xfrm>
          <a:prstGeom prst="roundRect">
            <a:avLst>
              <a:gd name="adj" fmla="val 3750"/>
            </a:avLst>
          </a:prstGeom>
          <a:solidFill>
            <a:schemeClr val="bg2"/>
          </a:solidFill>
        </p:spPr>
      </p:sp>
      <p:sp>
        <p:nvSpPr>
          <p:cNvPr id="8" name="Text 5"/>
          <p:cNvSpPr txBox="1"/>
          <p:nvPr/>
        </p:nvSpPr>
        <p:spPr>
          <a:xfrm>
            <a:off x="6583680" y="1737360"/>
            <a:ext cx="4572000" cy="457200"/>
          </a:xfrm>
          <a:prstGeom prst="rect">
            <a:avLst/>
          </a:prstGeom>
          <a:noFill/>
        </p:spPr>
        <p:txBody>
          <a:bodyPr wrap="square" lIns="0" tIns="0" rIns="0" bIns="0" rtlCol="0" anchor="t"/>
          <a:lstStyle/>
          <a:p>
            <a:pPr marL="0" indent="0">
              <a:buNone/>
            </a:pPr>
            <a:r>
              <a:rPr lang="en-US" sz="24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ResNet18 (weights = None)</a:t>
            </a:r>
            <a:endParaRPr lang="en-US" sz="2400" dirty="0"/>
          </a:p>
        </p:txBody>
      </p:sp>
      <p:sp>
        <p:nvSpPr>
          <p:cNvPr id="9" name="Text 6"/>
          <p:cNvSpPr txBox="1"/>
          <p:nvPr/>
        </p:nvSpPr>
        <p:spPr>
          <a:xfrm>
            <a:off x="6583680" y="2331720"/>
            <a:ext cx="4754880" cy="210312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Kiến trúc ResNet18 của torchvision, không nạp trọng số</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18 lớp và kết nối tắt (skip connection)</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11.193.441 tham số</a:t>
            </a:r>
            <a:endParaRPr lang="en-US" sz="1900" dirty="0"/>
          </a:p>
        </p:txBody>
      </p:sp>
      <p:sp>
        <p:nvSpPr>
          <p:cNvPr id="10" name="card"/>
          <p:cNvSpPr/>
          <p:nvPr/>
        </p:nvSpPr>
        <p:spPr>
          <a:xfrm>
            <a:off x="640080" y="4709160"/>
            <a:ext cx="10927080" cy="1371600"/>
          </a:xfrm>
          <a:prstGeom prst="roundRect">
            <a:avLst>
              <a:gd name="adj" fmla="val 8000"/>
            </a:avLst>
          </a:prstGeom>
          <a:solidFill>
            <a:schemeClr val="tx1"/>
          </a:solidFill>
        </p:spPr>
      </p:sp>
      <p:sp>
        <p:nvSpPr>
          <p:cNvPr id="11" name="Text 8"/>
          <p:cNvSpPr txBox="1"/>
          <p:nvPr/>
        </p:nvSpPr>
        <p:spPr>
          <a:xfrm>
            <a:off x="1005840" y="4846320"/>
            <a:ext cx="10241280" cy="1097280"/>
          </a:xfrm>
          <a:prstGeom prst="rect">
            <a:avLst/>
          </a:prstGeom>
          <a:noFill/>
        </p:spPr>
        <p:txBody>
          <a:bodyPr wrap="square" lIns="0" tIns="0" rIns="0" bIns="0" rtlCol="0" anchor="ctr"/>
          <a:lstStyle/>
          <a:p>
            <a:pPr marL="0" indent="0">
              <a:buNone/>
            </a:pPr>
            <a:r>
              <a:rPr lang="en-US" sz="1700" b="1" dirty="0">
                <a:solidFill>
                  <a:schemeClr val="accent2"/>
                </a:solidFill>
                <a:latin typeface="Calibri" panose="020F0502020204030204" pitchFamily="34" charset="0"/>
                <a:ea typeface="Calibri" panose="020F0502020204030204" pitchFamily="34" charset="-122"/>
                <a:cs typeface="Calibri" panose="020F0502020204030204" pitchFamily="34" charset="-120"/>
              </a:rPr>
              <a:t>Thiết lập chung: </a:t>
            </a: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AdamW (lr 2e-3, weight decay 1e-4) · OneCycleLR · Cross Entropy có trọng số lớp, label smoothing 0,1 · 40 epoch, batch 32, AMP · GPU Tesla T4, khoảng 24 phút mỗi mạng</a:t>
            </a:r>
            <a:endParaRPr lang="en-US" sz="17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Đường cong huấn luyện: cả hai mạng chưa học xong</a:t>
            </a:r>
            <a:endParaRPr lang="en-US" sz="3200" dirty="0"/>
          </a:p>
        </p:txBody>
      </p:sp>
      <p:sp>
        <p:nvSpPr>
          <p:cNvPr id="4" name="card"/>
          <p:cNvSpPr/>
          <p:nvPr/>
        </p:nvSpPr>
        <p:spPr>
          <a:xfrm>
            <a:off x="640080" y="1508760"/>
            <a:ext cx="6949440" cy="4572000"/>
          </a:xfrm>
          <a:prstGeom prst="roundRect">
            <a:avLst>
              <a:gd name="adj" fmla="val 2400"/>
            </a:avLst>
          </a:prstGeom>
          <a:solidFill>
            <a:schemeClr val="bg2"/>
          </a:solidFill>
        </p:spPr>
      </p:sp>
      <p:pic>
        <p:nvPicPr>
          <p:cNvPr id="5" name="đường cong huấn luyện" descr="đường cong huấn luyện"/>
          <p:cNvPicPr>
            <a:picLocks noChangeAspect="1"/>
          </p:cNvPicPr>
          <p:nvPr/>
        </p:nvPicPr>
        <p:blipFill>
          <a:blip r:embed="rId1"/>
          <a:stretch>
            <a:fillRect/>
          </a:stretch>
        </p:blipFill>
        <p:spPr>
          <a:xfrm>
            <a:off x="731520" y="1999736"/>
            <a:ext cx="6766560" cy="3590049"/>
          </a:xfrm>
          <a:prstGeom prst="rect">
            <a:avLst/>
          </a:prstGeom>
        </p:spPr>
      </p:pic>
      <p:sp>
        <p:nvSpPr>
          <p:cNvPr id="6" name="card"/>
          <p:cNvSpPr/>
          <p:nvPr/>
        </p:nvSpPr>
        <p:spPr>
          <a:xfrm>
            <a:off x="7818120" y="1508760"/>
            <a:ext cx="3749040" cy="4572000"/>
          </a:xfrm>
          <a:prstGeom prst="roundRect">
            <a:avLst>
              <a:gd name="adj" fmla="val 2927"/>
            </a:avLst>
          </a:prstGeom>
          <a:solidFill>
            <a:schemeClr val="tx1"/>
          </a:solidFill>
        </p:spPr>
      </p:sp>
      <p:sp>
        <p:nvSpPr>
          <p:cNvPr id="7" name="Text 3"/>
          <p:cNvSpPr txBox="1"/>
          <p:nvPr/>
        </p:nvSpPr>
        <p:spPr>
          <a:xfrm>
            <a:off x="8138160" y="1691640"/>
            <a:ext cx="3200400" cy="365760"/>
          </a:xfrm>
          <a:prstGeom prst="rect">
            <a:avLst/>
          </a:prstGeom>
          <a:noFill/>
        </p:spPr>
        <p:txBody>
          <a:bodyPr wrap="square" lIns="0" tIns="0" rIns="0" bIns="0" rtlCol="0" anchor="t"/>
          <a:lstStyle/>
          <a:p>
            <a:pPr marL="0" indent="0">
              <a:buNone/>
            </a:pPr>
            <a:r>
              <a:rPr lang="en-US" sz="1600" dirty="0">
                <a:solidFill>
                  <a:srgbClr val="BFD6CC"/>
                </a:solidFill>
                <a:latin typeface="Calibri" panose="020F0502020204030204" pitchFamily="34" charset="0"/>
                <a:ea typeface="Calibri" panose="020F0502020204030204" pitchFamily="34" charset="-122"/>
                <a:cs typeface="Calibri" panose="020F0502020204030204" pitchFamily="34" charset="-120"/>
              </a:rPr>
              <a:t>Val macro F1 tốt nhất</a:t>
            </a:r>
            <a:endParaRPr lang="en-US" sz="1600" dirty="0"/>
          </a:p>
        </p:txBody>
      </p:sp>
      <p:sp>
        <p:nvSpPr>
          <p:cNvPr id="8" name="Text 4"/>
          <p:cNvSpPr txBox="1"/>
          <p:nvPr/>
        </p:nvSpPr>
        <p:spPr>
          <a:xfrm>
            <a:off x="8138160" y="2057400"/>
            <a:ext cx="3200400" cy="640080"/>
          </a:xfrm>
          <a:prstGeom prst="rect">
            <a:avLst/>
          </a:prstGeom>
          <a:noFill/>
        </p:spPr>
        <p:txBody>
          <a:bodyPr wrap="square" lIns="0" tIns="0" rIns="0" bIns="0" rtlCol="0" anchor="t"/>
          <a:lstStyle/>
          <a:p>
            <a:pPr marL="0" indent="0">
              <a:buNone/>
            </a:pPr>
            <a:r>
              <a:rPr lang="en-US" sz="36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0,5605</a:t>
            </a:r>
            <a:endParaRPr lang="en-US" sz="3600" dirty="0"/>
          </a:p>
        </p:txBody>
      </p:sp>
      <p:sp>
        <p:nvSpPr>
          <p:cNvPr id="9" name="Text 5"/>
          <p:cNvSpPr txBox="1"/>
          <p:nvPr/>
        </p:nvSpPr>
        <p:spPr>
          <a:xfrm>
            <a:off x="8138160" y="2697480"/>
            <a:ext cx="3200400" cy="365760"/>
          </a:xfrm>
          <a:prstGeom prst="rect">
            <a:avLst/>
          </a:prstGeom>
          <a:noFill/>
        </p:spPr>
        <p:txBody>
          <a:bodyPr wrap="square" lIns="0" tIns="0" rIns="0" bIns="0" rtlCol="0" anchor="t"/>
          <a:lstStyle/>
          <a:p>
            <a:pPr marL="0" indent="0">
              <a:buNone/>
            </a:pPr>
            <a:r>
              <a:rPr lang="en-US" sz="1500" dirty="0">
                <a:solidFill>
                  <a:schemeClr val="bg1"/>
                </a:solidFill>
                <a:latin typeface="Calibri" panose="020F0502020204030204" pitchFamily="34" charset="0"/>
                <a:ea typeface="Calibri" panose="020F0502020204030204" pitchFamily="34" charset="-122"/>
                <a:cs typeface="Calibri" panose="020F0502020204030204" pitchFamily="34" charset="-120"/>
              </a:rPr>
              <a:t>CNN tự xây, epoch 38</a:t>
            </a:r>
            <a:endParaRPr lang="en-US" sz="1500" dirty="0"/>
          </a:p>
        </p:txBody>
      </p:sp>
      <p:sp>
        <p:nvSpPr>
          <p:cNvPr id="10" name="Text 6"/>
          <p:cNvSpPr txBox="1"/>
          <p:nvPr/>
        </p:nvSpPr>
        <p:spPr>
          <a:xfrm>
            <a:off x="8138160" y="3383280"/>
            <a:ext cx="3200400" cy="640080"/>
          </a:xfrm>
          <a:prstGeom prst="rect">
            <a:avLst/>
          </a:prstGeom>
          <a:noFill/>
        </p:spPr>
        <p:txBody>
          <a:bodyPr wrap="square" lIns="0" tIns="0" rIns="0" bIns="0" rtlCol="0" anchor="t"/>
          <a:lstStyle/>
          <a:p>
            <a:pPr marL="0" indent="0">
              <a:buNone/>
            </a:pPr>
            <a:r>
              <a:rPr lang="en-US" sz="36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0,5286</a:t>
            </a:r>
            <a:endParaRPr lang="en-US" sz="3600" dirty="0"/>
          </a:p>
        </p:txBody>
      </p:sp>
      <p:sp>
        <p:nvSpPr>
          <p:cNvPr id="11" name="Text 7"/>
          <p:cNvSpPr txBox="1"/>
          <p:nvPr/>
        </p:nvSpPr>
        <p:spPr>
          <a:xfrm>
            <a:off x="8138160" y="4023360"/>
            <a:ext cx="3200400" cy="365760"/>
          </a:xfrm>
          <a:prstGeom prst="rect">
            <a:avLst/>
          </a:prstGeom>
          <a:noFill/>
        </p:spPr>
        <p:txBody>
          <a:bodyPr wrap="square" lIns="0" tIns="0" rIns="0" bIns="0" rtlCol="0" anchor="t"/>
          <a:lstStyle/>
          <a:p>
            <a:pPr marL="0" indent="0">
              <a:buNone/>
            </a:pPr>
            <a:r>
              <a:rPr lang="en-US" sz="1500" dirty="0">
                <a:solidFill>
                  <a:schemeClr val="bg1"/>
                </a:solidFill>
                <a:latin typeface="Calibri" panose="020F0502020204030204" pitchFamily="34" charset="0"/>
                <a:ea typeface="Calibri" panose="020F0502020204030204" pitchFamily="34" charset="-122"/>
                <a:cs typeface="Calibri" panose="020F0502020204030204" pitchFamily="34" charset="-120"/>
              </a:rPr>
              <a:t>ResNet18, epoch 39</a:t>
            </a:r>
            <a:endParaRPr lang="en-US" sz="1500" dirty="0"/>
          </a:p>
        </p:txBody>
      </p:sp>
      <p:sp>
        <p:nvSpPr>
          <p:cNvPr id="12" name="Text 8"/>
          <p:cNvSpPr txBox="1"/>
          <p:nvPr/>
        </p:nvSpPr>
        <p:spPr>
          <a:xfrm>
            <a:off x="8138160" y="4663440"/>
            <a:ext cx="3200400" cy="1188720"/>
          </a:xfrm>
          <a:prstGeom prst="rect">
            <a:avLst/>
          </a:prstGeom>
          <a:noFill/>
        </p:spPr>
        <p:txBody>
          <a:bodyPr wrap="square" lIns="0" tIns="0" rIns="0" bIns="0" rtlCol="0" anchor="t"/>
          <a:lstStyle/>
          <a:p>
            <a:pPr marL="0" indent="0">
              <a:buNone/>
            </a:pPr>
            <a:r>
              <a:rPr lang="en-US" sz="1500" dirty="0">
                <a:solidFill>
                  <a:schemeClr val="bg1"/>
                </a:solidFill>
                <a:latin typeface="Calibri" panose="020F0502020204030204" pitchFamily="34" charset="0"/>
                <a:ea typeface="Calibri" panose="020F0502020204030204" pitchFamily="34" charset="-122"/>
                <a:cs typeface="Calibri" panose="020F0502020204030204" pitchFamily="34" charset="-120"/>
              </a:rPr>
              <a:t>Train accuracy epoch 40 mới đạt 71,1% (CNN) và 76,4% (ResNet18).</a:t>
            </a:r>
            <a:endParaRPr lang="en-US" sz="15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ResNet18 cho kết quả tốt nhất trên 734 ảnh test</a:t>
            </a:r>
            <a:endParaRPr lang="en-US" sz="3200" dirty="0"/>
          </a:p>
        </p:txBody>
      </p:sp>
      <p:graphicFrame>
        <p:nvGraphicFramePr>
          <p:cNvPr id="4" name="Chart 0"/>
          <p:cNvGraphicFramePr/>
          <p:nvPr/>
        </p:nvGraphicFramePr>
        <p:xfrm>
          <a:off x="640080" y="1463040"/>
          <a:ext cx="7315200" cy="4663440"/>
        </p:xfrm>
        <a:graphic>
          <a:graphicData uri="http://schemas.openxmlformats.org/drawingml/2006/chart">
            <c:chart xmlns:c="http://schemas.openxmlformats.org/drawingml/2006/chart" xmlns:r="http://schemas.openxmlformats.org/officeDocument/2006/relationships" r:id="rId1"/>
          </a:graphicData>
        </a:graphic>
      </p:graphicFrame>
      <p:sp>
        <p:nvSpPr>
          <p:cNvPr id="5" name="card"/>
          <p:cNvSpPr/>
          <p:nvPr/>
        </p:nvSpPr>
        <p:spPr>
          <a:xfrm>
            <a:off x="8183880" y="1508760"/>
            <a:ext cx="3383280" cy="4572000"/>
          </a:xfrm>
          <a:prstGeom prst="roundRect">
            <a:avLst>
              <a:gd name="adj" fmla="val 3243"/>
            </a:avLst>
          </a:prstGeom>
          <a:solidFill>
            <a:schemeClr val="bg2"/>
          </a:solidFill>
        </p:spPr>
      </p:sp>
      <p:sp>
        <p:nvSpPr>
          <p:cNvPr id="6" name="Text 2"/>
          <p:cNvSpPr txBox="1"/>
          <p:nvPr/>
        </p:nvSpPr>
        <p:spPr>
          <a:xfrm>
            <a:off x="8503920" y="1691640"/>
            <a:ext cx="2743200" cy="365760"/>
          </a:xfrm>
          <a:prstGeom prst="rect">
            <a:avLst/>
          </a:prstGeom>
          <a:noFill/>
        </p:spPr>
        <p:txBody>
          <a:bodyPr wrap="square" lIns="0" tIns="0" rIns="0" bIns="0" rtlCol="0" anchor="t"/>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Macro F1</a:t>
            </a:r>
            <a:endParaRPr lang="en-US" sz="1800" dirty="0"/>
          </a:p>
        </p:txBody>
      </p:sp>
      <p:sp>
        <p:nvSpPr>
          <p:cNvPr id="7" name="Text 3"/>
          <p:cNvSpPr txBox="1"/>
          <p:nvPr/>
        </p:nvSpPr>
        <p:spPr>
          <a:xfrm>
            <a:off x="8503920" y="2194560"/>
            <a:ext cx="2743200" cy="640080"/>
          </a:xfrm>
          <a:prstGeom prst="rect">
            <a:avLst/>
          </a:prstGeom>
          <a:noFill/>
        </p:spPr>
        <p:txBody>
          <a:bodyPr wrap="square" lIns="0" tIns="0" rIns="0" bIns="0" rtlCol="0" anchor="t"/>
          <a:lstStyle/>
          <a:p>
            <a:pPr marL="0" indent="0">
              <a:buNone/>
            </a:pPr>
            <a:r>
              <a:rPr lang="en-US" sz="3600" b="1" dirty="0">
                <a:solidFill>
                  <a:srgbClr val="8A9A92"/>
                </a:solidFill>
                <a:latin typeface="Cambria" panose="02040503050406030204" pitchFamily="34" charset="0"/>
                <a:ea typeface="Cambria" panose="02040503050406030204" pitchFamily="34" charset="-122"/>
                <a:cs typeface="Cambria" panose="02040503050406030204" pitchFamily="34" charset="-120"/>
              </a:rPr>
              <a:t>0,2943</a:t>
            </a:r>
            <a:endParaRPr lang="en-US" sz="3600" dirty="0"/>
          </a:p>
        </p:txBody>
      </p:sp>
      <p:sp>
        <p:nvSpPr>
          <p:cNvPr id="8" name="Text 4"/>
          <p:cNvSpPr txBox="1"/>
          <p:nvPr/>
        </p:nvSpPr>
        <p:spPr>
          <a:xfrm>
            <a:off x="8503920" y="2834640"/>
            <a:ext cx="2743200" cy="36576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Random Forest</a:t>
            </a:r>
            <a:endParaRPr lang="en-US" sz="1500" dirty="0"/>
          </a:p>
        </p:txBody>
      </p:sp>
      <p:sp>
        <p:nvSpPr>
          <p:cNvPr id="9" name="Text 5"/>
          <p:cNvSpPr txBox="1"/>
          <p:nvPr/>
        </p:nvSpPr>
        <p:spPr>
          <a:xfrm>
            <a:off x="8503920" y="3474720"/>
            <a:ext cx="2743200" cy="640080"/>
          </a:xfrm>
          <a:prstGeom prst="rect">
            <a:avLst/>
          </a:prstGeom>
          <a:noFill/>
        </p:spPr>
        <p:txBody>
          <a:bodyPr wrap="square" lIns="0" tIns="0" rIns="0" bIns="0" rtlCol="0" anchor="t"/>
          <a:lstStyle/>
          <a:p>
            <a:pPr marL="0" indent="0">
              <a:buNone/>
            </a:pPr>
            <a:r>
              <a:rPr lang="en-US" sz="3600" b="1" dirty="0">
                <a:solidFill>
                  <a:srgbClr val="B38A1A"/>
                </a:solidFill>
                <a:latin typeface="Cambria" panose="02040503050406030204" pitchFamily="34" charset="0"/>
                <a:ea typeface="Cambria" panose="02040503050406030204" pitchFamily="34" charset="-122"/>
                <a:cs typeface="Cambria" panose="02040503050406030204" pitchFamily="34" charset="-120"/>
              </a:rPr>
              <a:t>0,4327</a:t>
            </a:r>
            <a:endParaRPr lang="en-US" sz="3600" dirty="0"/>
          </a:p>
        </p:txBody>
      </p:sp>
      <p:sp>
        <p:nvSpPr>
          <p:cNvPr id="10" name="Text 6"/>
          <p:cNvSpPr txBox="1"/>
          <p:nvPr/>
        </p:nvSpPr>
        <p:spPr>
          <a:xfrm>
            <a:off x="8503920" y="4114800"/>
            <a:ext cx="2743200" cy="36576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CNN tự xây</a:t>
            </a:r>
            <a:endParaRPr lang="en-US" sz="1500" dirty="0"/>
          </a:p>
        </p:txBody>
      </p:sp>
      <p:sp>
        <p:nvSpPr>
          <p:cNvPr id="11" name="Text 7"/>
          <p:cNvSpPr txBox="1"/>
          <p:nvPr/>
        </p:nvSpPr>
        <p:spPr>
          <a:xfrm>
            <a:off x="8503920" y="4754880"/>
            <a:ext cx="2743200" cy="640080"/>
          </a:xfrm>
          <a:prstGeom prst="rect">
            <a:avLst/>
          </a:prstGeom>
          <a:noFill/>
        </p:spPr>
        <p:txBody>
          <a:bodyPr wrap="square" lIns="0" tIns="0" rIns="0" bIns="0" rtlCol="0" anchor="t"/>
          <a:lstStyle/>
          <a:p>
            <a:pPr marL="0" indent="0">
              <a:buNone/>
            </a:pPr>
            <a:r>
              <a:rPr lang="en-US" sz="3600" b="1" dirty="0">
                <a:solidFill>
                  <a:srgbClr val="C93A6B"/>
                </a:solidFill>
                <a:latin typeface="Cambria" panose="02040503050406030204" pitchFamily="34" charset="0"/>
                <a:ea typeface="Cambria" panose="02040503050406030204" pitchFamily="34" charset="-122"/>
                <a:cs typeface="Cambria" panose="02040503050406030204" pitchFamily="34" charset="-120"/>
              </a:rPr>
              <a:t>0,4471</a:t>
            </a:r>
            <a:endParaRPr lang="en-US" sz="3600" dirty="0"/>
          </a:p>
        </p:txBody>
      </p:sp>
      <p:sp>
        <p:nvSpPr>
          <p:cNvPr id="12" name="Text 8"/>
          <p:cNvSpPr txBox="1"/>
          <p:nvPr/>
        </p:nvSpPr>
        <p:spPr>
          <a:xfrm>
            <a:off x="8503920" y="5394960"/>
            <a:ext cx="2743200" cy="365760"/>
          </a:xfrm>
          <a:prstGeom prst="rect">
            <a:avLst/>
          </a:prstGeom>
          <a:noFill/>
        </p:spPr>
        <p:txBody>
          <a:bodyPr wrap="square" lIns="0" tIns="0" rIns="0" bIns="0" rtlCol="0" anchor="t"/>
          <a:lstStyle/>
          <a:p>
            <a:pPr marL="0" indent="0">
              <a:buNone/>
            </a:pPr>
            <a:r>
              <a:rPr lang="en-US" sz="1500" dirty="0">
                <a:solidFill>
                  <a:schemeClr val="tx2"/>
                </a:solidFill>
                <a:latin typeface="Calibri" panose="020F0502020204030204" pitchFamily="34" charset="0"/>
                <a:ea typeface="Calibri" panose="020F0502020204030204" pitchFamily="34" charset="-122"/>
                <a:cs typeface="Calibri" panose="020F0502020204030204" pitchFamily="34" charset="-120"/>
              </a:rPr>
              <a:t>ResNet18</a:t>
            </a:r>
            <a:endParaRPr lang="en-US" sz="15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Thanh long dễ hơn PlantDoc, ảnh sáng dễ hơn ảnh tối</a:t>
            </a:r>
            <a:endParaRPr lang="en-US" sz="3200" dirty="0"/>
          </a:p>
        </p:txBody>
      </p:sp>
      <p:graphicFrame>
        <p:nvGraphicFramePr>
          <p:cNvPr id="16" name="Table 0"/>
          <p:cNvGraphicFramePr>
            <a:graphicFrameLocks noGrp="1"/>
          </p:cNvGraphicFramePr>
          <p:nvPr/>
        </p:nvGraphicFramePr>
        <p:xfrm>
          <a:off x="640080" y="1600200"/>
          <a:ext cx="10927080" cy="2788920"/>
        </p:xfrm>
        <a:graphic>
          <a:graphicData uri="http://schemas.openxmlformats.org/drawingml/2006/table">
            <a:tbl>
              <a:tblPr/>
              <a:tblGrid>
                <a:gridCol w="2148840"/>
                <a:gridCol w="1463040"/>
                <a:gridCol w="1463040"/>
                <a:gridCol w="1554480"/>
                <a:gridCol w="1463040"/>
                <a:gridCol w="1463040"/>
                <a:gridCol w="1371600"/>
              </a:tblGrid>
              <a:tr h="731520">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Mô hình</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 thanh long</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 thanh long</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 thanh long sáng</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 thanh long tối</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Acc PlantDoc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 PlantDoc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r>
              <a:tr h="685800">
                <a:tc>
                  <a:txBody>
                    <a:bodyPr/>
                    <a:lstStyle/>
                    <a:p>
                      <a:pPr marL="0" indent="0">
                        <a:buNone/>
                      </a:pPr>
                      <a:r>
                        <a:rPr lang="en-US" sz="1600" b="1" dirty="0">
                          <a:solidFill>
                            <a:srgbClr val="000000"/>
                          </a:solidFill>
                          <a:latin typeface="Calibri" panose="020F0502020204030204" pitchFamily="34" charset="0"/>
                          <a:ea typeface="Calibri" panose="020F0502020204030204" pitchFamily="34" charset="-122"/>
                          <a:cs typeface="Calibri" panose="020F0502020204030204" pitchFamily="34" charset="-120"/>
                        </a:rPr>
                        <a:t>Random Forest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51,28%</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0,6082</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58,80%</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40,38%</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25,33%</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0,2245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685800">
                <a:tc>
                  <a:txBody>
                    <a:bodyPr/>
                    <a:lstStyle/>
                    <a:p>
                      <a:pPr marL="0" indent="0">
                        <a:buNone/>
                      </a:pPr>
                      <a:r>
                        <a:rPr lang="en-US" sz="1600" b="1" dirty="0">
                          <a:solidFill>
                            <a:srgbClr val="000000"/>
                          </a:solidFill>
                          <a:latin typeface="Calibri" panose="020F0502020204030204" pitchFamily="34" charset="0"/>
                          <a:ea typeface="Calibri" panose="020F0502020204030204" pitchFamily="34" charset="-122"/>
                          <a:cs typeface="Calibri" panose="020F0502020204030204" pitchFamily="34" charset="-120"/>
                        </a:rPr>
                        <a:t>CNN tự xây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58,74%</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0,6427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63,12%</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C93A6B"/>
                          </a:solidFill>
                          <a:latin typeface="Calibri" panose="020F0502020204030204" pitchFamily="34" charset="0"/>
                          <a:ea typeface="Calibri" panose="020F0502020204030204" pitchFamily="34" charset="-122"/>
                          <a:cs typeface="Calibri" panose="020F0502020204030204" pitchFamily="34" charset="-120"/>
                        </a:rPr>
                        <a:t>52,40%</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44,44%</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0,3860</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r h="685800">
                <a:tc>
                  <a:txBody>
                    <a:bodyPr/>
                    <a:lstStyle/>
                    <a:p>
                      <a:pPr marL="0" indent="0">
                        <a:buNone/>
                      </a:pPr>
                      <a:r>
                        <a:rPr lang="en-US" sz="1600" b="1" dirty="0">
                          <a:solidFill>
                            <a:srgbClr val="000000"/>
                          </a:solidFill>
                          <a:latin typeface="Calibri" panose="020F0502020204030204" pitchFamily="34" charset="0"/>
                          <a:ea typeface="Calibri" panose="020F0502020204030204" pitchFamily="34" charset="-122"/>
                          <a:cs typeface="Calibri" panose="020F0502020204030204" pitchFamily="34" charset="-120"/>
                        </a:rPr>
                        <a:t>ResNet18</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C93A6B"/>
                          </a:solidFill>
                          <a:latin typeface="Calibri" panose="020F0502020204030204" pitchFamily="34" charset="0"/>
                          <a:ea typeface="Calibri" panose="020F0502020204030204" pitchFamily="34" charset="-122"/>
                          <a:cs typeface="Calibri" panose="020F0502020204030204" pitchFamily="34" charset="-120"/>
                        </a:rPr>
                        <a:t>64,24%</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C93A6B"/>
                          </a:solidFill>
                          <a:latin typeface="Calibri" panose="020F0502020204030204" pitchFamily="34" charset="0"/>
                          <a:ea typeface="Calibri" panose="020F0502020204030204" pitchFamily="34" charset="-122"/>
                          <a:cs typeface="Calibri" panose="020F0502020204030204" pitchFamily="34" charset="-120"/>
                        </a:rPr>
                        <a:t>0,7221</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C93A6B"/>
                          </a:solidFill>
                          <a:latin typeface="Calibri" panose="020F0502020204030204" pitchFamily="34" charset="0"/>
                          <a:ea typeface="Calibri" panose="020F0502020204030204" pitchFamily="34" charset="-122"/>
                          <a:cs typeface="Calibri" panose="020F0502020204030204" pitchFamily="34" charset="-120"/>
                        </a:rPr>
                        <a:t>74,09%</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50,00%</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44,44%</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4302A"/>
                          </a:solidFill>
                          <a:latin typeface="Calibri" panose="020F0502020204030204" pitchFamily="34" charset="0"/>
                          <a:ea typeface="Calibri" panose="020F0502020204030204" pitchFamily="34" charset="-122"/>
                          <a:cs typeface="Calibri" panose="020F0502020204030204" pitchFamily="34" charset="-120"/>
                        </a:rPr>
                        <a:t>0,3860</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FFFFFF"/>
                    </a:solidFill>
                  </a:tcPr>
                </a:tc>
              </a:tr>
            </a:tbl>
          </a:graphicData>
        </a:graphic>
      </p:graphicFrame>
      <p:sp>
        <p:nvSpPr>
          <p:cNvPr id="5" name="card"/>
          <p:cNvSpPr/>
          <p:nvPr/>
        </p:nvSpPr>
        <p:spPr>
          <a:xfrm>
            <a:off x="640080" y="4572000"/>
            <a:ext cx="10927080" cy="1508760"/>
          </a:xfrm>
          <a:prstGeom prst="roundRect">
            <a:avLst>
              <a:gd name="adj" fmla="val 7273"/>
            </a:avLst>
          </a:prstGeom>
          <a:solidFill>
            <a:schemeClr val="bg2"/>
          </a:solidFill>
        </p:spPr>
      </p:sp>
      <p:sp>
        <p:nvSpPr>
          <p:cNvPr id="6" name="Text 2"/>
          <p:cNvSpPr txBox="1"/>
          <p:nvPr/>
        </p:nvSpPr>
        <p:spPr>
          <a:xfrm>
            <a:off x="1005840" y="4754880"/>
            <a:ext cx="10241280" cy="118872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ResNet18 hơn rõ ở ảnh thanh long sáng (74,09%); với ảnh tối thì CNN tự xây nhỉnh hơn (52,40% so với 50,00%)</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Mô hình rất ít khi đoán lá PlantDoc thành thanh long (ResNet18 chỉ 1 ảnh)</a:t>
            </a:r>
            <a:endParaRPr lang="en-US" sz="19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Video chưa thấy: chỉ ~47%, không phải ~100%</a:t>
            </a:r>
            <a:endParaRPr lang="en-US" sz="3200" dirty="0"/>
          </a:p>
        </p:txBody>
      </p:sp>
      <p:graphicFrame>
        <p:nvGraphicFramePr>
          <p:cNvPr id="4" name="Chart 0"/>
          <p:cNvGraphicFramePr/>
          <p:nvPr/>
        </p:nvGraphicFramePr>
        <p:xfrm>
          <a:off x="640080" y="1463040"/>
          <a:ext cx="7863840" cy="4663440"/>
        </p:xfrm>
        <a:graphic>
          <a:graphicData uri="http://schemas.openxmlformats.org/drawingml/2006/chart">
            <c:chart xmlns:c="http://schemas.openxmlformats.org/drawingml/2006/chart" xmlns:r="http://schemas.openxmlformats.org/officeDocument/2006/relationships" r:id="rId1"/>
          </a:graphicData>
        </a:graphic>
      </p:graphicFrame>
      <p:sp>
        <p:nvSpPr>
          <p:cNvPr id="5" name="card"/>
          <p:cNvSpPr/>
          <p:nvPr/>
        </p:nvSpPr>
        <p:spPr>
          <a:xfrm>
            <a:off x="8732520" y="1508760"/>
            <a:ext cx="2834640" cy="4572000"/>
          </a:xfrm>
          <a:prstGeom prst="roundRect">
            <a:avLst>
              <a:gd name="adj" fmla="val 3871"/>
            </a:avLst>
          </a:prstGeom>
          <a:solidFill>
            <a:schemeClr val="tx1"/>
          </a:solidFill>
        </p:spPr>
      </p:sp>
      <p:sp>
        <p:nvSpPr>
          <p:cNvPr id="6" name="Text 2"/>
          <p:cNvSpPr txBox="1"/>
          <p:nvPr/>
        </p:nvSpPr>
        <p:spPr>
          <a:xfrm>
            <a:off x="9006840" y="1691640"/>
            <a:ext cx="2377440" cy="731520"/>
          </a:xfrm>
          <a:prstGeom prst="rect">
            <a:avLst/>
          </a:prstGeom>
          <a:noFill/>
        </p:spPr>
        <p:txBody>
          <a:bodyPr wrap="square" lIns="0" tIns="0" rIns="0" bIns="0" rtlCol="0" anchor="t"/>
          <a:lstStyle/>
          <a:p>
            <a:pPr marL="0" indent="0">
              <a:buNone/>
            </a:pPr>
            <a:r>
              <a:rPr lang="en-US" sz="18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Đọc kết quả thế nào</a:t>
            </a:r>
            <a:endParaRPr lang="en-US" sz="1800" dirty="0"/>
          </a:p>
        </p:txBody>
      </p:sp>
      <p:sp>
        <p:nvSpPr>
          <p:cNvPr id="7" name="Text 3"/>
          <p:cNvSpPr txBox="1"/>
          <p:nvPr/>
        </p:nvSpPr>
        <p:spPr>
          <a:xfrm>
            <a:off x="9006840" y="2468880"/>
            <a:ext cx="2331720" cy="3474720"/>
          </a:xfrm>
          <a:prstGeom prst="rect">
            <a:avLst/>
          </a:prstGeom>
          <a:noFill/>
        </p:spPr>
        <p:txBody>
          <a:bodyPr wrap="square" lIns="0" tIns="0" rIns="0" bIns="0" rtlCol="0" anchor="t"/>
          <a:lstStyle/>
          <a:p>
            <a:pPr marL="203200" indent="-203200">
              <a:spcAft>
                <a:spcPts val="800"/>
              </a:spcAft>
              <a:buSzPct val="100000"/>
              <a:buChar char="•"/>
            </a:pPr>
            <a:r>
              <a:rPr lang="en-US" sz="1600" dirty="0">
                <a:solidFill>
                  <a:schemeClr val="bg1"/>
                </a:solidFill>
                <a:latin typeface="Calibri" panose="020F0502020204030204" pitchFamily="34" charset="0"/>
                <a:ea typeface="Calibri" panose="020F0502020204030204" pitchFamily="34" charset="-122"/>
                <a:cs typeface="Calibri" panose="020F0502020204030204" pitchFamily="34" charset="-120"/>
              </a:rPr>
              <a:t>Cuối video: ảnh test giống ảnh train, kết quả cao chưa đáng tin</a:t>
            </a:r>
            <a:endParaRPr lang="en-US" sz="1600" dirty="0"/>
          </a:p>
          <a:p>
            <a:pPr marL="203200" indent="-203200">
              <a:spcAft>
                <a:spcPts val="800"/>
              </a:spcAft>
              <a:buSzPct val="100000"/>
              <a:buChar char="•"/>
            </a:pPr>
            <a:r>
              <a:rPr lang="en-US" sz="1600" dirty="0">
                <a:solidFill>
                  <a:schemeClr val="bg1"/>
                </a:solidFill>
                <a:latin typeface="Calibri" panose="020F0502020204030204" pitchFamily="34" charset="0"/>
                <a:ea typeface="Calibri" panose="020F0502020204030204" pitchFamily="34" charset="-122"/>
                <a:cs typeface="Calibri" panose="020F0502020204030204" pitchFamily="34" charset="-120"/>
              </a:rPr>
              <a:t>Video riêng: phép thử trung thực hơn</a:t>
            </a:r>
            <a:endParaRPr lang="en-US" sz="1600" dirty="0"/>
          </a:p>
          <a:p>
            <a:pPr marL="203200" indent="-203200">
              <a:spcAft>
                <a:spcPts val="800"/>
              </a:spcAft>
              <a:buSzPct val="100000"/>
              <a:buChar char="•"/>
            </a:pPr>
            <a:r>
              <a:rPr lang="en-US" sz="1600" dirty="0">
                <a:solidFill>
                  <a:schemeClr val="bg1"/>
                </a:solidFill>
                <a:latin typeface="Calibri" panose="020F0502020204030204" pitchFamily="34" charset="0"/>
                <a:ea typeface="Calibri" panose="020F0502020204030204" pitchFamily="34" charset="-122"/>
                <a:cs typeface="Calibri" panose="020F0502020204030204" pitchFamily="34" charset="-120"/>
              </a:rPr>
              <a:t>Video đốm vàng và khỏe mạnh quay tối: sai nhiều nhất</a:t>
            </a:r>
            <a:endParaRPr lang="en-US" sz="16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Ma trận nhầm lẫn: lỗi chủ yếu do lệch miền giữa các video</a:t>
            </a:r>
            <a:endParaRPr lang="en-US" sz="3200" dirty="0"/>
          </a:p>
        </p:txBody>
      </p:sp>
      <p:sp>
        <p:nvSpPr>
          <p:cNvPr id="4" name="card"/>
          <p:cNvSpPr/>
          <p:nvPr/>
        </p:nvSpPr>
        <p:spPr>
          <a:xfrm>
            <a:off x="640080" y="1508760"/>
            <a:ext cx="7223760" cy="2286000"/>
          </a:xfrm>
          <a:prstGeom prst="roundRect">
            <a:avLst>
              <a:gd name="adj" fmla="val 4800"/>
            </a:avLst>
          </a:prstGeom>
          <a:solidFill>
            <a:schemeClr val="bg2"/>
          </a:solidFill>
        </p:spPr>
      </p:sp>
      <p:pic>
        <p:nvPicPr>
          <p:cNvPr id="5" name="ma trận nhầm lẫn thanh long" descr="ma trận nhầm lẫn thanh long"/>
          <p:cNvPicPr>
            <a:picLocks noChangeAspect="1"/>
          </p:cNvPicPr>
          <p:nvPr/>
        </p:nvPicPr>
        <p:blipFill>
          <a:blip r:embed="rId1"/>
          <a:stretch>
            <a:fillRect/>
          </a:stretch>
        </p:blipFill>
        <p:spPr>
          <a:xfrm>
            <a:off x="731520" y="1702898"/>
            <a:ext cx="7040880" cy="1897725"/>
          </a:xfrm>
          <a:prstGeom prst="rect">
            <a:avLst/>
          </a:prstGeom>
        </p:spPr>
      </p:pic>
      <p:sp>
        <p:nvSpPr>
          <p:cNvPr id="6" name="card"/>
          <p:cNvSpPr/>
          <p:nvPr/>
        </p:nvSpPr>
        <p:spPr>
          <a:xfrm>
            <a:off x="640080" y="4069080"/>
            <a:ext cx="2286000" cy="2011680"/>
          </a:xfrm>
          <a:prstGeom prst="roundRect">
            <a:avLst>
              <a:gd name="adj" fmla="val 5455"/>
            </a:avLst>
          </a:prstGeom>
          <a:solidFill>
            <a:schemeClr val="bg2"/>
          </a:solidFill>
        </p:spPr>
      </p:sp>
      <p:sp>
        <p:nvSpPr>
          <p:cNvPr id="7" name="Text 3"/>
          <p:cNvSpPr txBox="1"/>
          <p:nvPr/>
        </p:nvSpPr>
        <p:spPr>
          <a:xfrm>
            <a:off x="822960" y="4160520"/>
            <a:ext cx="1920240" cy="731520"/>
          </a:xfrm>
          <a:prstGeom prst="rect">
            <a:avLst/>
          </a:prstGeom>
          <a:noFill/>
        </p:spPr>
        <p:txBody>
          <a:bodyPr wrap="square" lIns="0" tIns="0" rIns="0" bIns="0" rtlCol="0" anchor="t"/>
          <a:lstStyle/>
          <a:p>
            <a:pPr marL="0" indent="0">
              <a:buNone/>
            </a:pPr>
            <a:r>
              <a:rPr lang="en-US" sz="36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64</a:t>
            </a:r>
            <a:endParaRPr lang="en-US" sz="3600" dirty="0"/>
          </a:p>
        </p:txBody>
      </p:sp>
      <p:sp>
        <p:nvSpPr>
          <p:cNvPr id="8" name="Text 4"/>
          <p:cNvSpPr txBox="1"/>
          <p:nvPr/>
        </p:nvSpPr>
        <p:spPr>
          <a:xfrm>
            <a:off x="822960" y="4892040"/>
            <a:ext cx="1965960" cy="640080"/>
          </a:xfrm>
          <a:prstGeom prst="rect">
            <a:avLst/>
          </a:prstGeom>
          <a:noFill/>
        </p:spPr>
        <p:txBody>
          <a:bodyPr wrap="square" lIns="0" tIns="0" rIns="0" bIns="0" rtlCol="0" anchor="t"/>
          <a:lstStyle/>
          <a:p>
            <a:pPr marL="0" indent="0">
              <a:buNone/>
            </a:pPr>
            <a:r>
              <a:rPr lang="en-US" sz="1500" b="1" dirty="0">
                <a:solidFill>
                  <a:schemeClr val="tx1"/>
                </a:solidFill>
                <a:latin typeface="Calibri" panose="020F0502020204030204" pitchFamily="34" charset="0"/>
                <a:ea typeface="Calibri" panose="020F0502020204030204" pitchFamily="34" charset="-122"/>
                <a:cs typeface="Calibri" panose="020F0502020204030204" pitchFamily="34" charset="-120"/>
              </a:rPr>
              <a:t>Khỏe mạnh → đốm dây</a:t>
            </a:r>
            <a:endParaRPr lang="en-US" sz="1500" dirty="0"/>
          </a:p>
        </p:txBody>
      </p:sp>
      <p:sp>
        <p:nvSpPr>
          <p:cNvPr id="9" name="Text 5"/>
          <p:cNvSpPr txBox="1"/>
          <p:nvPr/>
        </p:nvSpPr>
        <p:spPr>
          <a:xfrm>
            <a:off x="822960" y="5532120"/>
            <a:ext cx="1965960" cy="457200"/>
          </a:xfrm>
          <a:prstGeom prst="rect">
            <a:avLst/>
          </a:prstGeom>
          <a:noFill/>
        </p:spPr>
        <p:txBody>
          <a:bodyPr wrap="square" lIns="0" tIns="0" rIns="0" bIns="0" rtlCol="0" anchor="t"/>
          <a:lstStyle/>
          <a:p>
            <a:pPr marL="0" indent="0">
              <a:buNone/>
            </a:pPr>
            <a:r>
              <a:rPr lang="en-US" sz="1400" dirty="0">
                <a:solidFill>
                  <a:schemeClr val="tx2"/>
                </a:solidFill>
                <a:latin typeface="Calibri" panose="020F0502020204030204" pitchFamily="34" charset="0"/>
                <a:ea typeface="Calibri" panose="020F0502020204030204" pitchFamily="34" charset="-122"/>
                <a:cs typeface="Calibri" panose="020F0502020204030204" pitchFamily="34" charset="-120"/>
              </a:rPr>
              <a:t>video tối thanhlong13</a:t>
            </a:r>
            <a:endParaRPr lang="en-US" sz="1400" dirty="0"/>
          </a:p>
        </p:txBody>
      </p:sp>
      <p:sp>
        <p:nvSpPr>
          <p:cNvPr id="10" name="card"/>
          <p:cNvSpPr/>
          <p:nvPr/>
        </p:nvSpPr>
        <p:spPr>
          <a:xfrm>
            <a:off x="3108960" y="4069080"/>
            <a:ext cx="2286000" cy="2011680"/>
          </a:xfrm>
          <a:prstGeom prst="roundRect">
            <a:avLst>
              <a:gd name="adj" fmla="val 5455"/>
            </a:avLst>
          </a:prstGeom>
          <a:solidFill>
            <a:schemeClr val="bg2"/>
          </a:solidFill>
        </p:spPr>
      </p:sp>
      <p:sp>
        <p:nvSpPr>
          <p:cNvPr id="11" name="Text 7"/>
          <p:cNvSpPr txBox="1"/>
          <p:nvPr/>
        </p:nvSpPr>
        <p:spPr>
          <a:xfrm>
            <a:off x="3291840" y="4160520"/>
            <a:ext cx="1920240" cy="731520"/>
          </a:xfrm>
          <a:prstGeom prst="rect">
            <a:avLst/>
          </a:prstGeom>
          <a:noFill/>
        </p:spPr>
        <p:txBody>
          <a:bodyPr wrap="square" lIns="0" tIns="0" rIns="0" bIns="0" rtlCol="0" anchor="t"/>
          <a:lstStyle/>
          <a:p>
            <a:pPr marL="0" indent="0">
              <a:buNone/>
            </a:pPr>
            <a:r>
              <a:rPr lang="en-US" sz="36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24</a:t>
            </a:r>
            <a:endParaRPr lang="en-US" sz="3600" dirty="0"/>
          </a:p>
        </p:txBody>
      </p:sp>
      <p:sp>
        <p:nvSpPr>
          <p:cNvPr id="12" name="Text 8"/>
          <p:cNvSpPr txBox="1"/>
          <p:nvPr/>
        </p:nvSpPr>
        <p:spPr>
          <a:xfrm>
            <a:off x="3291840" y="4892040"/>
            <a:ext cx="1965960" cy="640080"/>
          </a:xfrm>
          <a:prstGeom prst="rect">
            <a:avLst/>
          </a:prstGeom>
          <a:noFill/>
        </p:spPr>
        <p:txBody>
          <a:bodyPr wrap="square" lIns="0" tIns="0" rIns="0" bIns="0" rtlCol="0" anchor="t"/>
          <a:lstStyle/>
          <a:p>
            <a:pPr marL="0" indent="0">
              <a:buNone/>
            </a:pPr>
            <a:r>
              <a:rPr lang="en-US" sz="1500" b="1" dirty="0">
                <a:solidFill>
                  <a:schemeClr val="tx1"/>
                </a:solidFill>
                <a:latin typeface="Calibri" panose="020F0502020204030204" pitchFamily="34" charset="0"/>
                <a:ea typeface="Calibri" panose="020F0502020204030204" pitchFamily="34" charset="-122"/>
                <a:cs typeface="Calibri" panose="020F0502020204030204" pitchFamily="34" charset="-120"/>
              </a:rPr>
              <a:t>Đốm vàng → Corn leaf blight</a:t>
            </a:r>
            <a:endParaRPr lang="en-US" sz="1500" dirty="0"/>
          </a:p>
        </p:txBody>
      </p:sp>
      <p:sp>
        <p:nvSpPr>
          <p:cNvPr id="13" name="Text 9"/>
          <p:cNvSpPr txBox="1"/>
          <p:nvPr/>
        </p:nvSpPr>
        <p:spPr>
          <a:xfrm>
            <a:off x="3291840" y="5532120"/>
            <a:ext cx="1965960" cy="457200"/>
          </a:xfrm>
          <a:prstGeom prst="rect">
            <a:avLst/>
          </a:prstGeom>
          <a:noFill/>
        </p:spPr>
        <p:txBody>
          <a:bodyPr wrap="square" lIns="0" tIns="0" rIns="0" bIns="0" rtlCol="0" anchor="t"/>
          <a:lstStyle/>
          <a:p>
            <a:pPr marL="0" indent="0">
              <a:buNone/>
            </a:pPr>
            <a:r>
              <a:rPr lang="en-US" sz="1400" dirty="0">
                <a:solidFill>
                  <a:schemeClr val="tx2"/>
                </a:solidFill>
                <a:latin typeface="Calibri" panose="020F0502020204030204" pitchFamily="34" charset="0"/>
                <a:ea typeface="Calibri" panose="020F0502020204030204" pitchFamily="34" charset="-122"/>
                <a:cs typeface="Calibri" panose="020F0502020204030204" pitchFamily="34" charset="-120"/>
              </a:rPr>
              <a:t>video thanhlong10</a:t>
            </a:r>
            <a:endParaRPr lang="en-US" sz="1400" dirty="0"/>
          </a:p>
        </p:txBody>
      </p:sp>
      <p:sp>
        <p:nvSpPr>
          <p:cNvPr id="14" name="card"/>
          <p:cNvSpPr/>
          <p:nvPr/>
        </p:nvSpPr>
        <p:spPr>
          <a:xfrm>
            <a:off x="5577840" y="4069080"/>
            <a:ext cx="2286000" cy="2011680"/>
          </a:xfrm>
          <a:prstGeom prst="roundRect">
            <a:avLst>
              <a:gd name="adj" fmla="val 5455"/>
            </a:avLst>
          </a:prstGeom>
          <a:solidFill>
            <a:schemeClr val="bg2"/>
          </a:solidFill>
        </p:spPr>
      </p:sp>
      <p:sp>
        <p:nvSpPr>
          <p:cNvPr id="15" name="Text 11"/>
          <p:cNvSpPr txBox="1"/>
          <p:nvPr/>
        </p:nvSpPr>
        <p:spPr>
          <a:xfrm>
            <a:off x="5760720" y="4160520"/>
            <a:ext cx="1920240" cy="731520"/>
          </a:xfrm>
          <a:prstGeom prst="rect">
            <a:avLst/>
          </a:prstGeom>
          <a:noFill/>
        </p:spPr>
        <p:txBody>
          <a:bodyPr wrap="square" lIns="0" tIns="0" rIns="0" bIns="0" rtlCol="0" anchor="t"/>
          <a:lstStyle/>
          <a:p>
            <a:pPr marL="0" indent="0">
              <a:buNone/>
            </a:pPr>
            <a:r>
              <a:rPr lang="en-US" sz="36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24</a:t>
            </a:r>
            <a:endParaRPr lang="en-US" sz="3600" dirty="0"/>
          </a:p>
        </p:txBody>
      </p:sp>
      <p:sp>
        <p:nvSpPr>
          <p:cNvPr id="16" name="Text 12"/>
          <p:cNvSpPr txBox="1"/>
          <p:nvPr/>
        </p:nvSpPr>
        <p:spPr>
          <a:xfrm>
            <a:off x="5760720" y="4892040"/>
            <a:ext cx="1965960" cy="640080"/>
          </a:xfrm>
          <a:prstGeom prst="rect">
            <a:avLst/>
          </a:prstGeom>
          <a:noFill/>
        </p:spPr>
        <p:txBody>
          <a:bodyPr wrap="square" lIns="0" tIns="0" rIns="0" bIns="0" rtlCol="0" anchor="t"/>
          <a:lstStyle/>
          <a:p>
            <a:pPr marL="0" indent="0">
              <a:buNone/>
            </a:pPr>
            <a:r>
              <a:rPr lang="en-US" sz="1500" b="1" dirty="0">
                <a:solidFill>
                  <a:schemeClr val="tx1"/>
                </a:solidFill>
                <a:latin typeface="Calibri" panose="020F0502020204030204" pitchFamily="34" charset="0"/>
                <a:ea typeface="Calibri" panose="020F0502020204030204" pitchFamily="34" charset="-122"/>
                <a:cs typeface="Calibri" panose="020F0502020204030204" pitchFamily="34" charset="-120"/>
              </a:rPr>
              <a:t>Đốm dây → nấm đồng tiền</a:t>
            </a:r>
            <a:endParaRPr lang="en-US" sz="1500" dirty="0"/>
          </a:p>
        </p:txBody>
      </p:sp>
      <p:sp>
        <p:nvSpPr>
          <p:cNvPr id="17" name="Text 13"/>
          <p:cNvSpPr txBox="1"/>
          <p:nvPr/>
        </p:nvSpPr>
        <p:spPr>
          <a:xfrm>
            <a:off x="5760720" y="5532120"/>
            <a:ext cx="1965960" cy="457200"/>
          </a:xfrm>
          <a:prstGeom prst="rect">
            <a:avLst/>
          </a:prstGeom>
          <a:noFill/>
        </p:spPr>
        <p:txBody>
          <a:bodyPr wrap="square" lIns="0" tIns="0" rIns="0" bIns="0" rtlCol="0" anchor="t"/>
          <a:lstStyle/>
          <a:p>
            <a:pPr marL="0" indent="0">
              <a:buNone/>
            </a:pPr>
            <a:r>
              <a:rPr lang="en-US" sz="1400" dirty="0">
                <a:solidFill>
                  <a:schemeClr val="tx2"/>
                </a:solidFill>
                <a:latin typeface="Calibri" panose="020F0502020204030204" pitchFamily="34" charset="0"/>
                <a:ea typeface="Calibri" panose="020F0502020204030204" pitchFamily="34" charset="-122"/>
                <a:cs typeface="Calibri" panose="020F0502020204030204" pitchFamily="34" charset="-120"/>
              </a:rPr>
              <a:t>video tối thanhlong18</a:t>
            </a:r>
            <a:endParaRPr lang="en-US" sz="1400" dirty="0"/>
          </a:p>
        </p:txBody>
      </p:sp>
      <p:sp>
        <p:nvSpPr>
          <p:cNvPr id="18" name="card"/>
          <p:cNvSpPr/>
          <p:nvPr/>
        </p:nvSpPr>
        <p:spPr>
          <a:xfrm>
            <a:off x="8046720" y="1508760"/>
            <a:ext cx="3520440" cy="4572000"/>
          </a:xfrm>
          <a:prstGeom prst="roundRect">
            <a:avLst>
              <a:gd name="adj" fmla="val 3117"/>
            </a:avLst>
          </a:prstGeom>
          <a:solidFill>
            <a:schemeClr val="tx1"/>
          </a:solidFill>
        </p:spPr>
      </p:sp>
      <p:sp>
        <p:nvSpPr>
          <p:cNvPr id="19" name="Text 15"/>
          <p:cNvSpPr txBox="1"/>
          <p:nvPr/>
        </p:nvSpPr>
        <p:spPr>
          <a:xfrm>
            <a:off x="8321040" y="1691640"/>
            <a:ext cx="3017520" cy="457200"/>
          </a:xfrm>
          <a:prstGeom prst="rect">
            <a:avLst/>
          </a:prstGeom>
          <a:noFill/>
        </p:spPr>
        <p:txBody>
          <a:bodyPr wrap="square" lIns="0" tIns="0" rIns="0" bIns="0" rtlCol="0" anchor="t"/>
          <a:lstStyle/>
          <a:p>
            <a:pPr marL="0" indent="0">
              <a:buNone/>
            </a:pPr>
            <a:r>
              <a:rPr lang="en-US" sz="19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Bốn quy luật nhầm lẫn</a:t>
            </a:r>
            <a:endParaRPr lang="en-US" sz="1900" dirty="0"/>
          </a:p>
        </p:txBody>
      </p:sp>
      <p:sp>
        <p:nvSpPr>
          <p:cNvPr id="20" name="Text 16"/>
          <p:cNvSpPr txBox="1"/>
          <p:nvPr/>
        </p:nvSpPr>
        <p:spPr>
          <a:xfrm>
            <a:off x="8321040" y="2286000"/>
            <a:ext cx="3017520" cy="3657600"/>
          </a:xfrm>
          <a:prstGeom prst="rect">
            <a:avLst/>
          </a:prstGeom>
          <a:noFill/>
        </p:spPr>
        <p:txBody>
          <a:bodyPr wrap="square" lIns="0" tIns="0" rIns="0" bIns="0" rtlCol="0" anchor="t"/>
          <a:lstStyle/>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Lệch miền giữa các video (nền, ánh sáng)</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Lá khỏe có hình thái tương tự (mâm xôi và dâu tây)</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Các bệnh cùng đổi màu trên cành thanh long</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Lá PlantDoc hầu như không bị đoán thành thanh long</a:t>
            </a:r>
            <a:endParaRPr lang="en-US" sz="17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Làm sáng ảnh tối: hiệu quả không đồng đều</a:t>
            </a:r>
            <a:endParaRPr lang="en-US" sz="3200" dirty="0"/>
          </a:p>
        </p:txBody>
      </p:sp>
      <p:graphicFrame>
        <p:nvGraphicFramePr>
          <p:cNvPr id="4" name="Chart 0"/>
          <p:cNvGraphicFramePr/>
          <p:nvPr/>
        </p:nvGraphicFramePr>
        <p:xfrm>
          <a:off x="640080" y="1463040"/>
          <a:ext cx="5669280" cy="4663440"/>
        </p:xfrm>
        <a:graphic>
          <a:graphicData uri="http://schemas.openxmlformats.org/drawingml/2006/chart">
            <c:chart xmlns:c="http://schemas.openxmlformats.org/drawingml/2006/chart" xmlns:r="http://schemas.openxmlformats.org/officeDocument/2006/relationships" r:id="rId1"/>
          </a:graphicData>
        </a:graphic>
      </p:graphicFrame>
      <p:sp>
        <p:nvSpPr>
          <p:cNvPr id="5" name="card"/>
          <p:cNvSpPr/>
          <p:nvPr/>
        </p:nvSpPr>
        <p:spPr>
          <a:xfrm>
            <a:off x="6583680" y="1508760"/>
            <a:ext cx="4983480" cy="4572000"/>
          </a:xfrm>
          <a:prstGeom prst="roundRect">
            <a:avLst>
              <a:gd name="adj" fmla="val 2400"/>
            </a:avLst>
          </a:prstGeom>
          <a:solidFill>
            <a:schemeClr val="bg2"/>
          </a:solidFill>
        </p:spPr>
      </p:sp>
      <p:sp>
        <p:nvSpPr>
          <p:cNvPr id="6" name="Text 2"/>
          <p:cNvSpPr txBox="1"/>
          <p:nvPr/>
        </p:nvSpPr>
        <p:spPr>
          <a:xfrm>
            <a:off x="6903720" y="1737360"/>
            <a:ext cx="4389120" cy="420624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thanhlong19 (nấm đồng tiền): có làm sáng 12/12, bỏ làm sáng 0/12</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thanhlong18 (đốm dây): bỏ làm sáng lại đúng nhiều hơn (88,8% so với 68,8%)</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thanhlong13 (khỏe mạnh): sai gần hết dù có hay không làm sáng, vì lớp này chỉ có một video tối để train</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Vẫn giữ bước làm sáng để khớp với lúc train và với ứng dụng web</a:t>
            </a:r>
            <a:endParaRPr lang="en-US" sz="19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Thử nghiệm trên video: đúng 2 trên 4 video</a:t>
            </a:r>
            <a:endParaRPr lang="en-US" sz="3200" dirty="0"/>
          </a:p>
        </p:txBody>
      </p:sp>
      <p:sp>
        <p:nvSpPr>
          <p:cNvPr id="4" name="card"/>
          <p:cNvSpPr/>
          <p:nvPr/>
        </p:nvSpPr>
        <p:spPr>
          <a:xfrm>
            <a:off x="640080" y="1508760"/>
            <a:ext cx="4754880" cy="4572000"/>
          </a:xfrm>
          <a:prstGeom prst="roundRect">
            <a:avLst>
              <a:gd name="adj" fmla="val 2400"/>
            </a:avLst>
          </a:prstGeom>
          <a:solidFill>
            <a:schemeClr val="bg2"/>
          </a:solidFill>
        </p:spPr>
      </p:sp>
      <p:pic>
        <p:nvPicPr>
          <p:cNvPr id="5" name="dự đoán theo khung hình" descr="dự đoán theo khung hình"/>
          <p:cNvPicPr>
            <a:picLocks noChangeAspect="1"/>
          </p:cNvPicPr>
          <p:nvPr/>
        </p:nvPicPr>
        <p:blipFill>
          <a:blip r:embed="rId1"/>
          <a:stretch>
            <a:fillRect/>
          </a:stretch>
        </p:blipFill>
        <p:spPr>
          <a:xfrm>
            <a:off x="731520" y="1707757"/>
            <a:ext cx="4572000" cy="4174006"/>
          </a:xfrm>
          <a:prstGeom prst="rect">
            <a:avLst/>
          </a:prstGeom>
        </p:spPr>
      </p:pic>
      <p:graphicFrame>
        <p:nvGraphicFramePr>
          <p:cNvPr id="20" name="Table 0"/>
          <p:cNvGraphicFramePr>
            <a:graphicFrameLocks noGrp="1"/>
          </p:cNvGraphicFramePr>
          <p:nvPr/>
        </p:nvGraphicFramePr>
        <p:xfrm>
          <a:off x="5760720" y="1554480"/>
          <a:ext cx="5806440" cy="2743200"/>
        </p:xfrm>
        <a:graphic>
          <a:graphicData uri="http://schemas.openxmlformats.org/drawingml/2006/table">
            <a:tbl>
              <a:tblPr/>
              <a:tblGrid>
                <a:gridCol w="1417320"/>
                <a:gridCol w="1645920"/>
                <a:gridCol w="1371600"/>
                <a:gridCol w="1371600"/>
              </a:tblGrid>
              <a:tr h="548640">
                <a:tc>
                  <a:txBody>
                    <a:bodyP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Video</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Nhãn thật</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Khung đúng</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c>
                  <a:txBody>
                    <a:bodyP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Kết quả</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solidFill>
                      <a:srgbClr val="14302A"/>
                    </a:solidFill>
                  </a:tcPr>
                </a:tc>
              </a:tr>
              <a:tr h="548640">
                <a:tc>
                  <a:txBody>
                    <a:bodyPr/>
                    <a:lstStyle/>
                    <a:p>
                      <a:pPr marL="0" indent="0">
                        <a:buNone/>
                      </a:pPr>
                      <a:r>
                        <a:rPr lang="en-US" sz="1500" b="1" dirty="0">
                          <a:solidFill>
                            <a:srgbClr val="14302A"/>
                          </a:solidFill>
                          <a:latin typeface="Calibri" panose="020F0502020204030204" pitchFamily="34" charset="0"/>
                          <a:ea typeface="Calibri" panose="020F0502020204030204" pitchFamily="34" charset="-122"/>
                          <a:cs typeface="Calibri" panose="020F0502020204030204" pitchFamily="34" charset="-120"/>
                        </a:rPr>
                        <a:t>thanhlong9</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buNone/>
                      </a:pPr>
                      <a:r>
                        <a:rPr lang="en-US" sz="1500" dirty="0">
                          <a:solidFill>
                            <a:srgbClr val="14302A"/>
                          </a:solidFill>
                          <a:latin typeface="Calibri" panose="020F0502020204030204" pitchFamily="34" charset="0"/>
                          <a:ea typeface="Calibri" panose="020F0502020204030204" pitchFamily="34" charset="-122"/>
                          <a:cs typeface="Calibri" panose="020F0502020204030204" pitchFamily="34" charset="-120"/>
                        </a:rPr>
                        <a:t>Khỏe mạnh</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lgn="ctr">
                        <a:buNone/>
                      </a:pPr>
                      <a:r>
                        <a:rPr lang="en-US" sz="1500" dirty="0">
                          <a:solidFill>
                            <a:srgbClr val="14302A"/>
                          </a:solidFill>
                          <a:latin typeface="Calibri" panose="020F0502020204030204" pitchFamily="34" charset="0"/>
                          <a:ea typeface="Calibri" panose="020F0502020204030204" pitchFamily="34" charset="-122"/>
                          <a:cs typeface="Calibri" panose="020F0502020204030204" pitchFamily="34" charset="-120"/>
                        </a:rPr>
                        <a:t>58,3%</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lgn="ctr">
                        <a:buNone/>
                      </a:pPr>
                      <a:r>
                        <a:rPr lang="en-US" sz="1500" dirty="0">
                          <a:solidFill>
                            <a:srgbClr val="14302A"/>
                          </a:solidFill>
                          <a:latin typeface="Calibri" panose="020F0502020204030204" pitchFamily="34" charset="0"/>
                          <a:ea typeface="Calibri" panose="020F0502020204030204" pitchFamily="34" charset="-122"/>
                          <a:cs typeface="Calibri" panose="020F0502020204030204" pitchFamily="34" charset="-120"/>
                        </a:rPr>
                        <a:t>Đúng</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548640">
                <a:tc>
                  <a:txBody>
                    <a:bodyPr/>
                    <a:lstStyle/>
                    <a:p>
                      <a:pPr marL="0" indent="0">
                        <a:buNone/>
                      </a:pPr>
                      <a:r>
                        <a:rPr lang="en-US" sz="1500" b="1" dirty="0">
                          <a:solidFill>
                            <a:srgbClr val="14302A"/>
                          </a:solidFill>
                          <a:latin typeface="Calibri" panose="020F0502020204030204" pitchFamily="34" charset="0"/>
                          <a:ea typeface="Calibri" panose="020F0502020204030204" pitchFamily="34" charset="-122"/>
                          <a:cs typeface="Calibri" panose="020F0502020204030204" pitchFamily="34" charset="-120"/>
                        </a:rPr>
                        <a:t>thanhlong18</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buNone/>
                      </a:pPr>
                      <a:r>
                        <a:rPr lang="en-US" sz="1500" dirty="0">
                          <a:solidFill>
                            <a:srgbClr val="14302A"/>
                          </a:solidFill>
                          <a:latin typeface="Calibri" panose="020F0502020204030204" pitchFamily="34" charset="0"/>
                          <a:ea typeface="Calibri" panose="020F0502020204030204" pitchFamily="34" charset="-122"/>
                          <a:cs typeface="Calibri" panose="020F0502020204030204" pitchFamily="34" charset="-120"/>
                        </a:rPr>
                        <a:t>Đốm dây (tối)</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lgn="ctr">
                        <a:buNone/>
                      </a:pPr>
                      <a:r>
                        <a:rPr lang="en-US" sz="1500" dirty="0">
                          <a:solidFill>
                            <a:srgbClr val="14302A"/>
                          </a:solidFill>
                          <a:latin typeface="Calibri" panose="020F0502020204030204" pitchFamily="34" charset="0"/>
                          <a:ea typeface="Calibri" panose="020F0502020204030204" pitchFamily="34" charset="-122"/>
                          <a:cs typeface="Calibri" panose="020F0502020204030204" pitchFamily="34" charset="-120"/>
                        </a:rPr>
                        <a:t>78,3%</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lgn="ctr">
                        <a:buNone/>
                      </a:pPr>
                      <a:r>
                        <a:rPr lang="en-US" sz="1500" dirty="0">
                          <a:solidFill>
                            <a:srgbClr val="14302A"/>
                          </a:solidFill>
                          <a:latin typeface="Calibri" panose="020F0502020204030204" pitchFamily="34" charset="0"/>
                          <a:ea typeface="Calibri" panose="020F0502020204030204" pitchFamily="34" charset="-122"/>
                          <a:cs typeface="Calibri" panose="020F0502020204030204" pitchFamily="34" charset="-120"/>
                        </a:rPr>
                        <a:t>Đúng</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548640">
                <a:tc>
                  <a:txBody>
                    <a:bodyPr/>
                    <a:lstStyle/>
                    <a:p>
                      <a:pPr marL="0" indent="0">
                        <a:buNone/>
                      </a:pPr>
                      <a:r>
                        <a:rPr lang="en-US" sz="1500" b="1" dirty="0">
                          <a:solidFill>
                            <a:srgbClr val="14302A"/>
                          </a:solidFill>
                          <a:latin typeface="Calibri" panose="020F0502020204030204" pitchFamily="34" charset="0"/>
                          <a:ea typeface="Calibri" panose="020F0502020204030204" pitchFamily="34" charset="-122"/>
                          <a:cs typeface="Calibri" panose="020F0502020204030204" pitchFamily="34" charset="-120"/>
                        </a:rPr>
                        <a:t>thanhlong10</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buNone/>
                      </a:pPr>
                      <a:r>
                        <a:rPr lang="en-US" sz="1500" dirty="0">
                          <a:solidFill>
                            <a:srgbClr val="14302A"/>
                          </a:solidFill>
                          <a:latin typeface="Calibri" panose="020F0502020204030204" pitchFamily="34" charset="0"/>
                          <a:ea typeface="Calibri" panose="020F0502020204030204" pitchFamily="34" charset="-122"/>
                          <a:cs typeface="Calibri" panose="020F0502020204030204" pitchFamily="34" charset="-120"/>
                        </a:rPr>
                        <a:t>Đốm vàng</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lgn="ctr">
                        <a:buNone/>
                      </a:pPr>
                      <a:r>
                        <a:rPr lang="en-US" sz="1500" b="1" dirty="0">
                          <a:solidFill>
                            <a:srgbClr val="C93A6B"/>
                          </a:solidFill>
                          <a:latin typeface="Calibri" panose="020F0502020204030204" pitchFamily="34" charset="0"/>
                          <a:ea typeface="Calibri" panose="020F0502020204030204" pitchFamily="34" charset="-122"/>
                          <a:cs typeface="Calibri" panose="020F0502020204030204" pitchFamily="34" charset="-120"/>
                        </a:rPr>
                        <a:t>23,3%</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lgn="ctr">
                        <a:buNone/>
                      </a:pPr>
                      <a:r>
                        <a:rPr lang="en-US" sz="1500" b="1" dirty="0">
                          <a:solidFill>
                            <a:srgbClr val="C93A6B"/>
                          </a:solidFill>
                          <a:latin typeface="Calibri" panose="020F0502020204030204" pitchFamily="34" charset="0"/>
                          <a:ea typeface="Calibri" panose="020F0502020204030204" pitchFamily="34" charset="-122"/>
                          <a:cs typeface="Calibri" panose="020F0502020204030204" pitchFamily="34" charset="-120"/>
                        </a:rPr>
                        <a:t>Sai</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r h="548640">
                <a:tc>
                  <a:txBody>
                    <a:bodyPr/>
                    <a:lstStyle/>
                    <a:p>
                      <a:pPr marL="0" indent="0">
                        <a:buNone/>
                      </a:pPr>
                      <a:r>
                        <a:rPr lang="en-US" sz="1500" b="1" dirty="0">
                          <a:solidFill>
                            <a:srgbClr val="14302A"/>
                          </a:solidFill>
                          <a:latin typeface="Calibri" panose="020F0502020204030204" pitchFamily="34" charset="0"/>
                          <a:ea typeface="Calibri" panose="020F0502020204030204" pitchFamily="34" charset="-122"/>
                          <a:cs typeface="Calibri" panose="020F0502020204030204" pitchFamily="34" charset="-120"/>
                        </a:rPr>
                        <a:t>thanhlong13</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buNone/>
                      </a:pPr>
                      <a:r>
                        <a:rPr lang="en-US" sz="1500" dirty="0">
                          <a:solidFill>
                            <a:srgbClr val="14302A"/>
                          </a:solidFill>
                          <a:latin typeface="Calibri" panose="020F0502020204030204" pitchFamily="34" charset="0"/>
                          <a:ea typeface="Calibri" panose="020F0502020204030204" pitchFamily="34" charset="-122"/>
                          <a:cs typeface="Calibri" panose="020F0502020204030204" pitchFamily="34" charset="-120"/>
                        </a:rPr>
                        <a:t>Khỏe mạnh (tối)</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lgn="ctr">
                        <a:buNone/>
                      </a:pPr>
                      <a:r>
                        <a:rPr lang="en-US" sz="1500" b="1" dirty="0">
                          <a:solidFill>
                            <a:srgbClr val="C93A6B"/>
                          </a:solidFill>
                          <a:latin typeface="Calibri" panose="020F0502020204030204" pitchFamily="34" charset="0"/>
                          <a:ea typeface="Calibri" panose="020F0502020204030204" pitchFamily="34" charset="-122"/>
                          <a:cs typeface="Calibri" panose="020F0502020204030204" pitchFamily="34" charset="-120"/>
                        </a:rPr>
                        <a:t>1,7%</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c>
                  <a:txBody>
                    <a:bodyPr/>
                    <a:lstStyle/>
                    <a:p>
                      <a:pPr marL="0" indent="0" algn="ctr">
                        <a:buNone/>
                      </a:pPr>
                      <a:r>
                        <a:rPr lang="en-US" sz="1500" b="1" dirty="0">
                          <a:solidFill>
                            <a:srgbClr val="C93A6B"/>
                          </a:solidFill>
                          <a:latin typeface="Calibri" panose="020F0502020204030204" pitchFamily="34" charset="0"/>
                          <a:ea typeface="Calibri" panose="020F0502020204030204" pitchFamily="34" charset="-122"/>
                          <a:cs typeface="Calibri" panose="020F0502020204030204" pitchFamily="34" charset="-120"/>
                        </a:rPr>
                        <a:t>Sai</a:t>
                      </a:r>
                      <a:endParaRPr lang="en-US" sz="15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5DDD7"/>
                      </a:solidFill>
                      <a:prstDash val="solid"/>
                      <a:round/>
                      <a:headEnd type="none" w="med" len="med"/>
                      <a:tailEnd type="none" w="med" len="med"/>
                    </a:lnL>
                    <a:lnR w="9525" cap="flat" cmpd="sng" algn="ctr">
                      <a:solidFill>
                        <a:srgbClr val="D5DDD7"/>
                      </a:solidFill>
                      <a:prstDash val="solid"/>
                      <a:round/>
                      <a:headEnd type="none" w="med" len="med"/>
                      <a:tailEnd type="none" w="med" len="med"/>
                    </a:lnR>
                    <a:lnT w="9525" cap="flat" cmpd="sng" algn="ctr">
                      <a:solidFill>
                        <a:srgbClr val="D5DDD7"/>
                      </a:solidFill>
                      <a:prstDash val="solid"/>
                      <a:round/>
                      <a:headEnd type="none" w="med" len="med"/>
                      <a:tailEnd type="none" w="med" len="med"/>
                    </a:lnT>
                    <a:lnB w="9525" cap="flat" cmpd="sng" algn="ctr">
                      <a:solidFill>
                        <a:srgbClr val="D5DDD7"/>
                      </a:solidFill>
                      <a:prstDash val="solid"/>
                      <a:round/>
                      <a:headEnd type="none" w="med" len="med"/>
                      <a:tailEnd type="none" w="med" len="med"/>
                    </a:lnB>
                  </a:tcPr>
                </a:tc>
              </a:tr>
            </a:tbl>
          </a:graphicData>
        </a:graphic>
      </p:graphicFrame>
      <p:sp>
        <p:nvSpPr>
          <p:cNvPr id="7" name="Text 2"/>
          <p:cNvSpPr txBox="1"/>
          <p:nvPr/>
        </p:nvSpPr>
        <p:spPr>
          <a:xfrm>
            <a:off x="5760720" y="4526280"/>
            <a:ext cx="5806440" cy="1554480"/>
          </a:xfrm>
          <a:prstGeom prst="rect">
            <a:avLst/>
          </a:prstGeom>
          <a:noFill/>
        </p:spPr>
        <p:txBody>
          <a:bodyPr wrap="square" lIns="0" tIns="0" rIns="0" bIns="0" rtlCol="0" anchor="t"/>
          <a:lstStyle/>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Lấy trung bình nhiều khung giúp ổn định, nhưng nếu phần lớn khung sai thì trung bình cũng sai</a:t>
            </a:r>
            <a:endParaRPr lang="en-US" sz="1900" dirty="0"/>
          </a:p>
          <a:p>
            <a:pPr marL="203200" indent="-203200">
              <a:spcAft>
                <a:spcPts val="800"/>
              </a:spcAft>
              <a:buSzPct val="100000"/>
              <a:buChar char="•"/>
            </a:pPr>
            <a:r>
              <a:rPr lang="en-US" sz="1900" dirty="0">
                <a:solidFill>
                  <a:schemeClr val="tx1"/>
                </a:solidFill>
                <a:latin typeface="Calibri" panose="020F0502020204030204" pitchFamily="34" charset="0"/>
                <a:ea typeface="Calibri" panose="020F0502020204030204" pitchFamily="34" charset="-122"/>
                <a:cs typeface="Calibri" panose="020F0502020204030204" pitchFamily="34" charset="-120"/>
              </a:rPr>
              <a:t>thanhlong10: xác suất cao nhất rất thấp (15,2%), mô hình thiếu chắc chắn</a:t>
            </a:r>
            <a:endParaRPr lang="en-US" sz="19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Đóng gói ResNet18 cho ứng dụng web</a:t>
            </a:r>
            <a:endParaRPr lang="en-US" sz="3200" dirty="0"/>
          </a:p>
        </p:txBody>
      </p:sp>
      <p:sp>
        <p:nvSpPr>
          <p:cNvPr id="4" name="card"/>
          <p:cNvSpPr/>
          <p:nvPr/>
        </p:nvSpPr>
        <p:spPr>
          <a:xfrm>
            <a:off x="640080" y="1737360"/>
            <a:ext cx="2560320" cy="2560320"/>
          </a:xfrm>
          <a:prstGeom prst="roundRect">
            <a:avLst>
              <a:gd name="adj" fmla="val 4286"/>
            </a:avLst>
          </a:prstGeom>
          <a:solidFill>
            <a:schemeClr val="bg1"/>
          </a:solidFill>
        </p:spPr>
      </p:sp>
      <p:sp>
        <p:nvSpPr>
          <p:cNvPr id="5" name="Text 2"/>
          <p:cNvSpPr txBox="1"/>
          <p:nvPr/>
        </p:nvSpPr>
        <p:spPr>
          <a:xfrm>
            <a:off x="868680" y="1920240"/>
            <a:ext cx="2194560" cy="640080"/>
          </a:xfrm>
          <a:prstGeom prst="rect">
            <a:avLst/>
          </a:prstGeom>
          <a:noFill/>
        </p:spPr>
        <p:txBody>
          <a:bodyPr wrap="square" lIns="0" tIns="0" rIns="0" bIns="0" rtlCol="0" anchor="t"/>
          <a:lstStyle/>
          <a:p>
            <a:pPr marL="0" indent="0">
              <a:buNone/>
            </a:pPr>
            <a:r>
              <a:rPr lang="en-US" sz="2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42,9 MB</a:t>
            </a:r>
            <a:endParaRPr lang="en-US" sz="2800" dirty="0"/>
          </a:p>
        </p:txBody>
      </p:sp>
      <p:sp>
        <p:nvSpPr>
          <p:cNvPr id="6" name="Text 3"/>
          <p:cNvSpPr txBox="1"/>
          <p:nvPr/>
        </p:nvSpPr>
        <p:spPr>
          <a:xfrm>
            <a:off x="868680" y="2606040"/>
            <a:ext cx="2194560" cy="457200"/>
          </a:xfrm>
          <a:prstGeom prst="rect">
            <a:avLst/>
          </a:prstGeom>
          <a:noFill/>
        </p:spPr>
        <p:txBody>
          <a:bodyPr wrap="square" lIns="0" tIns="0" rIns="0" bIns="0" rtlCol="0" anchor="t"/>
          <a:lstStyle/>
          <a:p>
            <a:pPr marL="0" indent="0">
              <a:buNone/>
            </a:pPr>
            <a:r>
              <a:rPr lang="en-US" sz="2000" b="1" dirty="0">
                <a:solidFill>
                  <a:schemeClr val="tx1"/>
                </a:solidFill>
                <a:latin typeface="Calibri" panose="020F0502020204030204" pitchFamily="34" charset="0"/>
                <a:ea typeface="Calibri" panose="020F0502020204030204" pitchFamily="34" charset="-122"/>
                <a:cs typeface="Calibri" panose="020F0502020204030204" pitchFamily="34" charset="-120"/>
              </a:rPr>
              <a:t>TorchScript</a:t>
            </a:r>
            <a:endParaRPr lang="en-US" sz="2000" dirty="0"/>
          </a:p>
        </p:txBody>
      </p:sp>
      <p:sp>
        <p:nvSpPr>
          <p:cNvPr id="7" name="Text 4"/>
          <p:cNvSpPr txBox="1"/>
          <p:nvPr/>
        </p:nvSpPr>
        <p:spPr>
          <a:xfrm>
            <a:off x="868680" y="3108960"/>
            <a:ext cx="2148840" cy="10972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Bên web chỉ cần torch.jit.load</a:t>
            </a:r>
            <a:endParaRPr lang="en-US" sz="1600" dirty="0"/>
          </a:p>
        </p:txBody>
      </p:sp>
      <p:sp>
        <p:nvSpPr>
          <p:cNvPr id="8" name="card"/>
          <p:cNvSpPr/>
          <p:nvPr/>
        </p:nvSpPr>
        <p:spPr>
          <a:xfrm>
            <a:off x="3383280" y="1737360"/>
            <a:ext cx="2560320" cy="2560320"/>
          </a:xfrm>
          <a:prstGeom prst="roundRect">
            <a:avLst>
              <a:gd name="adj" fmla="val 4286"/>
            </a:avLst>
          </a:prstGeom>
          <a:solidFill>
            <a:schemeClr val="bg1"/>
          </a:solidFill>
        </p:spPr>
      </p:sp>
      <p:sp>
        <p:nvSpPr>
          <p:cNvPr id="9" name="Text 6"/>
          <p:cNvSpPr txBox="1"/>
          <p:nvPr/>
        </p:nvSpPr>
        <p:spPr>
          <a:xfrm>
            <a:off x="3611880" y="1920240"/>
            <a:ext cx="2194560" cy="640080"/>
          </a:xfrm>
          <a:prstGeom prst="rect">
            <a:avLst/>
          </a:prstGeom>
          <a:noFill/>
        </p:spPr>
        <p:txBody>
          <a:bodyPr wrap="square" lIns="0" tIns="0" rIns="0" bIns="0" rtlCol="0" anchor="t"/>
          <a:lstStyle/>
          <a:p>
            <a:pPr marL="0" indent="0">
              <a:buNone/>
            </a:pPr>
            <a:r>
              <a:rPr lang="en-US" sz="2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42,7 MB</a:t>
            </a:r>
            <a:endParaRPr lang="en-US" sz="2800" dirty="0"/>
          </a:p>
        </p:txBody>
      </p:sp>
      <p:sp>
        <p:nvSpPr>
          <p:cNvPr id="10" name="Text 7"/>
          <p:cNvSpPr txBox="1"/>
          <p:nvPr/>
        </p:nvSpPr>
        <p:spPr>
          <a:xfrm>
            <a:off x="3611880" y="2606040"/>
            <a:ext cx="2194560" cy="457200"/>
          </a:xfrm>
          <a:prstGeom prst="rect">
            <a:avLst/>
          </a:prstGeom>
          <a:noFill/>
        </p:spPr>
        <p:txBody>
          <a:bodyPr wrap="square" lIns="0" tIns="0" rIns="0" bIns="0" rtlCol="0" anchor="t"/>
          <a:lstStyle/>
          <a:p>
            <a:pPr marL="0" indent="0">
              <a:buNone/>
            </a:pPr>
            <a:r>
              <a:rPr lang="en-US" sz="2000" b="1" dirty="0">
                <a:solidFill>
                  <a:schemeClr val="tx1"/>
                </a:solidFill>
                <a:latin typeface="Calibri" panose="020F0502020204030204" pitchFamily="34" charset="0"/>
                <a:ea typeface="Calibri" panose="020F0502020204030204" pitchFamily="34" charset="-122"/>
                <a:cs typeface="Calibri" panose="020F0502020204030204" pitchFamily="34" charset="-120"/>
              </a:rPr>
              <a:t>ONNX</a:t>
            </a:r>
            <a:endParaRPr lang="en-US" sz="2000" dirty="0"/>
          </a:p>
        </p:txBody>
      </p:sp>
      <p:sp>
        <p:nvSpPr>
          <p:cNvPr id="11" name="Text 8"/>
          <p:cNvSpPr txBox="1"/>
          <p:nvPr/>
        </p:nvSpPr>
        <p:spPr>
          <a:xfrm>
            <a:off x="3611880" y="3108960"/>
            <a:ext cx="2148840" cy="10972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Chạy bằng onnxruntime, không cần PyTorch</a:t>
            </a:r>
            <a:endParaRPr lang="en-US" sz="1600" dirty="0"/>
          </a:p>
        </p:txBody>
      </p:sp>
      <p:sp>
        <p:nvSpPr>
          <p:cNvPr id="12" name="card"/>
          <p:cNvSpPr/>
          <p:nvPr/>
        </p:nvSpPr>
        <p:spPr>
          <a:xfrm>
            <a:off x="6126480" y="1737360"/>
            <a:ext cx="2560320" cy="2560320"/>
          </a:xfrm>
          <a:prstGeom prst="roundRect">
            <a:avLst>
              <a:gd name="adj" fmla="val 4286"/>
            </a:avLst>
          </a:prstGeom>
          <a:solidFill>
            <a:schemeClr val="bg1"/>
          </a:solidFill>
        </p:spPr>
      </p:sp>
      <p:sp>
        <p:nvSpPr>
          <p:cNvPr id="13" name="Text 10"/>
          <p:cNvSpPr txBox="1"/>
          <p:nvPr/>
        </p:nvSpPr>
        <p:spPr>
          <a:xfrm>
            <a:off x="6355080" y="1920240"/>
            <a:ext cx="2194560" cy="640080"/>
          </a:xfrm>
          <a:prstGeom prst="rect">
            <a:avLst/>
          </a:prstGeom>
          <a:noFill/>
        </p:spPr>
        <p:txBody>
          <a:bodyPr wrap="square" lIns="0" tIns="0" rIns="0" bIns="0" rtlCol="0" anchor="t"/>
          <a:lstStyle/>
          <a:p>
            <a:pPr marL="0" indent="0">
              <a:buNone/>
            </a:pPr>
            <a:r>
              <a:rPr lang="en-US" sz="2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4,3 KB</a:t>
            </a:r>
            <a:endParaRPr lang="en-US" sz="2800" dirty="0"/>
          </a:p>
        </p:txBody>
      </p:sp>
      <p:sp>
        <p:nvSpPr>
          <p:cNvPr id="14" name="Text 11"/>
          <p:cNvSpPr txBox="1"/>
          <p:nvPr/>
        </p:nvSpPr>
        <p:spPr>
          <a:xfrm>
            <a:off x="6355080" y="2606040"/>
            <a:ext cx="2194560" cy="457200"/>
          </a:xfrm>
          <a:prstGeom prst="rect">
            <a:avLst/>
          </a:prstGeom>
          <a:noFill/>
        </p:spPr>
        <p:txBody>
          <a:bodyPr wrap="square" lIns="0" tIns="0" rIns="0" bIns="0" rtlCol="0" anchor="t"/>
          <a:lstStyle/>
          <a:p>
            <a:pPr marL="0" indent="0">
              <a:buNone/>
            </a:pPr>
            <a:r>
              <a:rPr lang="en-US" sz="2000" b="1" dirty="0">
                <a:solidFill>
                  <a:schemeClr val="tx1"/>
                </a:solidFill>
                <a:latin typeface="Calibri" panose="020F0502020204030204" pitchFamily="34" charset="0"/>
                <a:ea typeface="Calibri" panose="020F0502020204030204" pitchFamily="34" charset="-122"/>
                <a:cs typeface="Calibri" panose="020F0502020204030204" pitchFamily="34" charset="-120"/>
              </a:rPr>
              <a:t>predict.py</a:t>
            </a:r>
            <a:endParaRPr lang="en-US" sz="2000" dirty="0"/>
          </a:p>
        </p:txBody>
      </p:sp>
      <p:sp>
        <p:nvSpPr>
          <p:cNvPr id="15" name="Text 12"/>
          <p:cNvSpPr txBox="1"/>
          <p:nvPr/>
        </p:nvSpPr>
        <p:spPr>
          <a:xfrm>
            <a:off x="6355080" y="3108960"/>
            <a:ext cx="2148840" cy="10972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Nhận ảnh hoặc video, trả về Top-3 kèm xác suất</a:t>
            </a:r>
            <a:endParaRPr lang="en-US" sz="1600" dirty="0"/>
          </a:p>
        </p:txBody>
      </p:sp>
      <p:sp>
        <p:nvSpPr>
          <p:cNvPr id="16" name="card"/>
          <p:cNvSpPr/>
          <p:nvPr/>
        </p:nvSpPr>
        <p:spPr>
          <a:xfrm>
            <a:off x="8869680" y="1737360"/>
            <a:ext cx="2560320" cy="2560320"/>
          </a:xfrm>
          <a:prstGeom prst="roundRect">
            <a:avLst>
              <a:gd name="adj" fmla="val 4286"/>
            </a:avLst>
          </a:prstGeom>
          <a:solidFill>
            <a:schemeClr val="bg1"/>
          </a:solidFill>
        </p:spPr>
      </p:sp>
      <p:sp>
        <p:nvSpPr>
          <p:cNvPr id="17" name="Text 14"/>
          <p:cNvSpPr txBox="1"/>
          <p:nvPr/>
        </p:nvSpPr>
        <p:spPr>
          <a:xfrm>
            <a:off x="9098280" y="1920240"/>
            <a:ext cx="2194560" cy="640080"/>
          </a:xfrm>
          <a:prstGeom prst="rect">
            <a:avLst/>
          </a:prstGeom>
          <a:noFill/>
        </p:spPr>
        <p:txBody>
          <a:bodyPr wrap="square" lIns="0" tIns="0" rIns="0" bIns="0" rtlCol="0" anchor="t"/>
          <a:lstStyle/>
          <a:p>
            <a:pPr marL="0" indent="0">
              <a:buNone/>
            </a:pPr>
            <a:r>
              <a:rPr lang="en-US" sz="2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266,7 MB</a:t>
            </a:r>
            <a:endParaRPr lang="en-US" sz="2800" dirty="0"/>
          </a:p>
        </p:txBody>
      </p:sp>
      <p:sp>
        <p:nvSpPr>
          <p:cNvPr id="18" name="Text 15"/>
          <p:cNvSpPr txBox="1"/>
          <p:nvPr/>
        </p:nvSpPr>
        <p:spPr>
          <a:xfrm>
            <a:off x="9098280" y="2606040"/>
            <a:ext cx="2194560" cy="457200"/>
          </a:xfrm>
          <a:prstGeom prst="rect">
            <a:avLst/>
          </a:prstGeom>
          <a:noFill/>
        </p:spPr>
        <p:txBody>
          <a:bodyPr wrap="square" lIns="0" tIns="0" rIns="0" bIns="0" rtlCol="0" anchor="t"/>
          <a:lstStyle/>
          <a:p>
            <a:pPr marL="0" indent="0">
              <a:buNone/>
            </a:pPr>
            <a:r>
              <a:rPr lang="en-US" sz="2000" b="1" dirty="0">
                <a:solidFill>
                  <a:schemeClr val="tx1"/>
                </a:solidFill>
                <a:latin typeface="Calibri" panose="020F0502020204030204" pitchFamily="34" charset="0"/>
                <a:ea typeface="Calibri" panose="020F0502020204030204" pitchFamily="34" charset="-122"/>
                <a:cs typeface="Calibri" panose="020F0502020204030204" pitchFamily="34" charset="-120"/>
              </a:rPr>
              <a:t>Random Forest</a:t>
            </a:r>
            <a:endParaRPr lang="en-US" sz="2000" dirty="0"/>
          </a:p>
        </p:txBody>
      </p:sp>
      <p:sp>
        <p:nvSpPr>
          <p:cNvPr id="19" name="Text 16"/>
          <p:cNvSpPr txBox="1"/>
          <p:nvPr/>
        </p:nvSpPr>
        <p:spPr>
          <a:xfrm>
            <a:off x="9098280" y="3108960"/>
            <a:ext cx="2148840" cy="1097280"/>
          </a:xfrm>
          <a:prstGeom prst="rect">
            <a:avLst/>
          </a:prstGeom>
          <a:noFill/>
        </p:spPr>
        <p:txBody>
          <a:bodyPr wrap="square" lIns="0" tIns="0" rIns="0" bIns="0" rtlCol="0" anchor="t"/>
          <a:lstStyle/>
          <a:p>
            <a:pPr marL="0" indent="0">
              <a:buNone/>
            </a:pPr>
            <a:r>
              <a:rPr lang="en-US" sz="1600" dirty="0">
                <a:solidFill>
                  <a:schemeClr val="tx2"/>
                </a:solidFill>
                <a:latin typeface="Calibri" panose="020F0502020204030204" pitchFamily="34" charset="0"/>
                <a:ea typeface="Calibri" panose="020F0502020204030204" pitchFamily="34" charset="-122"/>
                <a:cs typeface="Calibri" panose="020F0502020204030204" pitchFamily="34" charset="-120"/>
              </a:rPr>
              <a:t>Quá nặng, không đưa lên web</a:t>
            </a:r>
            <a:endParaRPr lang="en-US" sz="1600" dirty="0"/>
          </a:p>
        </p:txBody>
      </p:sp>
      <p:sp>
        <p:nvSpPr>
          <p:cNvPr id="20" name="card"/>
          <p:cNvSpPr/>
          <p:nvPr/>
        </p:nvSpPr>
        <p:spPr>
          <a:xfrm>
            <a:off x="640080" y="4572000"/>
            <a:ext cx="10927080" cy="1463040"/>
          </a:xfrm>
          <a:prstGeom prst="roundRect">
            <a:avLst>
              <a:gd name="adj" fmla="val 7500"/>
            </a:avLst>
          </a:prstGeom>
          <a:solidFill>
            <a:schemeClr val="tx1"/>
          </a:solidFill>
        </p:spPr>
      </p:sp>
      <p:sp>
        <p:nvSpPr>
          <p:cNvPr id="21" name="Text 18"/>
          <p:cNvSpPr txBox="1"/>
          <p:nvPr/>
        </p:nvSpPr>
        <p:spPr>
          <a:xfrm>
            <a:off x="1005840" y="4709160"/>
            <a:ext cx="10241280" cy="1188720"/>
          </a:xfrm>
          <a:prstGeom prst="rect">
            <a:avLst/>
          </a:prstGeom>
          <a:noFill/>
        </p:spPr>
        <p:txBody>
          <a:bodyPr wrap="square" lIns="0" tIns="0" rIns="0" bIns="0" rtlCol="0" anchor="ctr"/>
          <a:lstStyle/>
          <a:p>
            <a:pPr marL="0" indent="0">
              <a:buNone/>
            </a:pPr>
            <a:r>
              <a:rPr lang="en-US" sz="32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29/30 </a:t>
            </a: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ảnh thử cho kết quả khớp giữa predict.py và notebook. predict.py tự làm sáng ảnh tối, resize và chuẩn hóa giống lúc huấn luyện.</a:t>
            </a:r>
            <a:endParaRPr lang="en-US" sz="16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640080" y="411480"/>
            <a:ext cx="10881360" cy="868680"/>
          </a:xfrm>
          <a:prstGeom prst="rect">
            <a:avLst/>
          </a:prstGeom>
          <a:noFill/>
        </p:spPr>
        <p:txBody>
          <a:bodyPr wrap="square" lIns="0" tIns="0" rIns="0" bIns="0" rtlCol="0" anchor="ctr"/>
          <a:lstStyle/>
          <a:p>
            <a:pPr marL="0" indent="0" algn="l">
              <a:buNone/>
            </a:pPr>
            <a:r>
              <a:rPr lang="en-US" sz="3200" b="1" dirty="0">
                <a:solidFill>
                  <a:schemeClr val="tx1"/>
                </a:solidFill>
                <a:latin typeface="Cambria" panose="02040503050406030204" pitchFamily="34" charset="0"/>
                <a:ea typeface="Cambria" panose="02040503050406030204" pitchFamily="34" charset="-122"/>
                <a:cs typeface="Cambria" panose="02040503050406030204" pitchFamily="34" charset="-120"/>
              </a:rPr>
              <a:t>Kết luận và hướng phát triển</a:t>
            </a:r>
            <a:endParaRPr lang="en-US" sz="3200" dirty="0"/>
          </a:p>
        </p:txBody>
      </p:sp>
      <p:sp>
        <p:nvSpPr>
          <p:cNvPr id="4" name="card"/>
          <p:cNvSpPr/>
          <p:nvPr/>
        </p:nvSpPr>
        <p:spPr>
          <a:xfrm>
            <a:off x="640080" y="1508760"/>
            <a:ext cx="5303520" cy="4572000"/>
          </a:xfrm>
          <a:prstGeom prst="roundRect">
            <a:avLst>
              <a:gd name="adj" fmla="val 2400"/>
            </a:avLst>
          </a:prstGeom>
          <a:solidFill>
            <a:schemeClr val="bg2"/>
          </a:solidFill>
        </p:spPr>
      </p:sp>
      <p:sp>
        <p:nvSpPr>
          <p:cNvPr id="5" name="Text 2"/>
          <p:cNvSpPr txBox="1"/>
          <p:nvPr/>
        </p:nvSpPr>
        <p:spPr>
          <a:xfrm>
            <a:off x="960120" y="1691640"/>
            <a:ext cx="4572000" cy="457200"/>
          </a:xfrm>
          <a:prstGeom prst="rect">
            <a:avLst/>
          </a:prstGeom>
          <a:noFill/>
        </p:spPr>
        <p:txBody>
          <a:bodyPr wrap="square" lIns="0" tIns="0" rIns="0" bIns="0" rtlCol="0" anchor="t"/>
          <a:lstStyle/>
          <a:p>
            <a:pPr marL="0" indent="0">
              <a:buNone/>
            </a:pPr>
            <a:r>
              <a:rPr lang="en-US" sz="24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Đã làm được</a:t>
            </a:r>
            <a:endParaRPr lang="en-US" sz="2400" dirty="0"/>
          </a:p>
        </p:txBody>
      </p:sp>
      <p:sp>
        <p:nvSpPr>
          <p:cNvPr id="6" name="Text 3"/>
          <p:cNvSpPr txBox="1"/>
          <p:nvPr/>
        </p:nvSpPr>
        <p:spPr>
          <a:xfrm>
            <a:off x="960120" y="2286000"/>
            <a:ext cx="4754880" cy="3657600"/>
          </a:xfrm>
          <a:prstGeom prst="rect">
            <a:avLst/>
          </a:prstGeom>
          <a:noFill/>
        </p:spPr>
        <p:txBody>
          <a:bodyPr wrap="square" lIns="0" tIns="0" rIns="0" bIns="0" rtlCol="0" anchor="t"/>
          <a:lstStyle/>
          <a:p>
            <a:pPr marL="203200" indent="-2032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Bộ dữ liệu 33 lớp, 5.195 ảnh (2.640 ảnh thanh long tự quay)</a:t>
            </a:r>
            <a:endParaRPr lang="en-US" sz="1700" dirty="0"/>
          </a:p>
          <a:p>
            <a:pPr marL="203200" indent="-2032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Pipeline tiền xử lý: chia theo video, làm sáng ảnh tối, augmentation, class weighting</a:t>
            </a:r>
            <a:endParaRPr lang="en-US" sz="1700" dirty="0"/>
          </a:p>
          <a:p>
            <a:pPr marL="203200" indent="-2032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ResNet18 tốt nhất: Accuracy 58,17%, Macro F1 0,4471 (trước khi train ảnh tối: 56,08% và 0,3932)</a:t>
            </a:r>
            <a:endParaRPr lang="en-US" sz="1700" dirty="0"/>
          </a:p>
          <a:p>
            <a:pPr marL="203200" indent="-203200">
              <a:spcAft>
                <a:spcPts val="800"/>
              </a:spcAft>
              <a:buSzPct val="100000"/>
              <a:buChar char="•"/>
            </a:pPr>
            <a:r>
              <a:rPr lang="en-US" sz="1700" dirty="0">
                <a:solidFill>
                  <a:schemeClr val="tx1"/>
                </a:solidFill>
                <a:latin typeface="Calibri" panose="020F0502020204030204" pitchFamily="34" charset="0"/>
                <a:ea typeface="Calibri" panose="020F0502020204030204" pitchFamily="34" charset="-122"/>
                <a:cs typeface="Calibri" panose="020F0502020204030204" pitchFamily="34" charset="-120"/>
              </a:rPr>
              <a:t>Đóng gói TorchScript, ONNX và predict.py</a:t>
            </a:r>
            <a:endParaRPr lang="en-US" sz="1700" dirty="0"/>
          </a:p>
        </p:txBody>
      </p:sp>
      <p:sp>
        <p:nvSpPr>
          <p:cNvPr id="7" name="card"/>
          <p:cNvSpPr/>
          <p:nvPr/>
        </p:nvSpPr>
        <p:spPr>
          <a:xfrm>
            <a:off x="6263640" y="1508760"/>
            <a:ext cx="5303520" cy="4572000"/>
          </a:xfrm>
          <a:prstGeom prst="roundRect">
            <a:avLst>
              <a:gd name="adj" fmla="val 2400"/>
            </a:avLst>
          </a:prstGeom>
          <a:solidFill>
            <a:schemeClr val="tx1"/>
          </a:solidFill>
        </p:spPr>
      </p:sp>
      <p:sp>
        <p:nvSpPr>
          <p:cNvPr id="8" name="Text 5"/>
          <p:cNvSpPr txBox="1"/>
          <p:nvPr/>
        </p:nvSpPr>
        <p:spPr>
          <a:xfrm>
            <a:off x="6583680" y="1691640"/>
            <a:ext cx="4754880" cy="457200"/>
          </a:xfrm>
          <a:prstGeom prst="rect">
            <a:avLst/>
          </a:prstGeom>
          <a:noFill/>
        </p:spPr>
        <p:txBody>
          <a:bodyPr wrap="square" lIns="0" tIns="0" rIns="0" bIns="0" rtlCol="0" anchor="t"/>
          <a:lstStyle/>
          <a:p>
            <a:pPr marL="0" indent="0">
              <a:buNone/>
            </a:pPr>
            <a:r>
              <a:rPr lang="en-US" sz="24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Hạn chế và hướng tiếp theo</a:t>
            </a:r>
            <a:endParaRPr lang="en-US" sz="2400" dirty="0"/>
          </a:p>
        </p:txBody>
      </p:sp>
      <p:sp>
        <p:nvSpPr>
          <p:cNvPr id="9" name="Text 6"/>
          <p:cNvSpPr txBox="1"/>
          <p:nvPr/>
        </p:nvSpPr>
        <p:spPr>
          <a:xfrm>
            <a:off x="6583680" y="2286000"/>
            <a:ext cx="4754880" cy="3657600"/>
          </a:xfrm>
          <a:prstGeom prst="rect">
            <a:avLst/>
          </a:prstGeom>
          <a:noFill/>
        </p:spPr>
        <p:txBody>
          <a:bodyPr wrap="square" lIns="0" tIns="0" rIns="0" bIns="0" rtlCol="0" anchor="t"/>
          <a:lstStyle/>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Video chưa thấy chỉ đúng khoảng 47% (ảnh sáng): cần quay thêm nhiều cành, nhiều vườn, nhất là video tối</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Mạng chưa học xong: tăng epoch, thử học chuyển giao từ ImageNet</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Đánh giá chặt hơn: group k-fold theo video, nhiều seed</a:t>
            </a:r>
            <a:endParaRPr lang="en-US" sz="1700" dirty="0"/>
          </a:p>
          <a:p>
            <a:pPr marL="203200" indent="-203200">
              <a:spcAft>
                <a:spcPts val="800"/>
              </a:spcAft>
              <a:buSzPct val="100000"/>
              <a:buChar char="•"/>
            </a:pPr>
            <a:r>
              <a:rPr lang="en-US" sz="1700" dirty="0">
                <a:solidFill>
                  <a:schemeClr val="bg1"/>
                </a:solidFill>
                <a:latin typeface="Calibri" panose="020F0502020204030204" pitchFamily="34" charset="0"/>
                <a:ea typeface="Calibri" panose="020F0502020204030204" pitchFamily="34" charset="-122"/>
                <a:cs typeface="Calibri" panose="020F0502020204030204" pitchFamily="34" charset="-120"/>
              </a:rPr>
              <a:t>Ứng dụng web: hiển thị Top-3, cảnh báo khi xác suất thấp</a:t>
            </a:r>
            <a:endParaRPr lang="en-US" sz="1700" dirty="0"/>
          </a:p>
        </p:txBody>
      </p:sp>
      <p:sp>
        <p:nvSpPr>
          <p:cNvPr id="25" name="Slide Number Placeholder 0"/>
          <p:cNvSpPr>
            <a:spLocks noGrp="1"/>
          </p:cNvSpPr>
          <p:nvPr>
            <p:ph type="sldNum" sz="quarter" idx="4294967295"/>
          </p:nvPr>
        </p:nvSpPr>
        <p:spPr>
          <a:xfrm>
            <a:off x="10972800" y="6400800"/>
            <a:ext cx="548640" cy="274320"/>
          </a:xfrm>
          <a:prstGeom prst="rect">
            <a:avLst/>
          </a:prstGeom>
        </p:spPr>
        <p:txBody>
          <a:bodyPr/>
          <a:lstStyle>
            <a:lvl1pPr>
              <a:defRPr sz="1100">
                <a:solidFill>
                  <a:schemeClr val="accent5"/>
                </a:solidFill>
                <a:latin typeface="Calibri" panose="020F0502020204030204"/>
                <a:ea typeface="Calibri" panose="020F0502020204030204"/>
                <a:cs typeface="Calibri" panose="020F0502020204030204"/>
              </a:defRPr>
            </a:lvl1pPr>
          </a:lstStyle>
          <a:p>
            <a:pPr algn="r"/>
            <a:fld id="{F7021451-1387-4CA6-816F-3879F97B5CBC}" type="slidenum">
              <a:rPr lang="en-US" b="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ph type="title" idx="100" hasCustomPrompt="1"/>
          </p:nvPr>
        </p:nvSpPr>
        <p:spPr>
          <a:xfrm>
            <a:off x="640080" y="2011680"/>
            <a:ext cx="10881360" cy="1737360"/>
          </a:xfrm>
          <a:prstGeom prst="rect">
            <a:avLst/>
          </a:prstGeom>
          <a:noFill/>
        </p:spPr>
        <p:txBody>
          <a:bodyPr wrap="square" lIns="0" tIns="0" rIns="0" bIns="0" rtlCol="0" anchor="t"/>
          <a:lstStyle/>
          <a:p>
            <a:pPr marL="0" indent="0" algn="l">
              <a:buNone/>
            </a:pPr>
            <a:r>
              <a:rPr lang="en-US" sz="4600" b="1" dirty="0">
                <a:solidFill>
                  <a:schemeClr val="bg1"/>
                </a:solidFill>
                <a:latin typeface="Cambria" panose="02040503050406030204" pitchFamily="34" charset="0"/>
                <a:ea typeface="Cambria" panose="02040503050406030204" pitchFamily="34" charset="-122"/>
                <a:cs typeface="Cambria" panose="02040503050406030204" pitchFamily="34" charset="-120"/>
              </a:rPr>
              <a:t>Xin cảm ơn</a:t>
            </a:r>
            <a:endParaRPr lang="en-US" sz="4600" dirty="0"/>
          </a:p>
        </p:txBody>
      </p:sp>
    </p:spTree>
  </p:cSld>
  <p:clrMapOvr>
    <a:masterClrMapping/>
  </p:clrMapOvr>
</p:sld>
</file>

<file path=ppt/theme/theme1.xml><?xml version="1.0" encoding="utf-8"?>
<a:theme xmlns:a="http://schemas.openxmlformats.org/drawingml/2006/main" name="Nhom6 Thanh Long">
  <a:themeElements>
    <a:clrScheme name="Nhom6 Thanh Long">
      <a:dk1>
        <a:srgbClr val="14302A"/>
      </a:dk1>
      <a:lt1>
        <a:srgbClr val="FFFFFF"/>
      </a:lt1>
      <a:dk2>
        <a:srgbClr val="4B5E57"/>
      </a:dk2>
      <a:lt2>
        <a:srgbClr val="EEF3EE"/>
      </a:lt2>
      <a:accent1>
        <a:srgbClr val="C93A6B"/>
      </a:accent1>
      <a:accent2>
        <a:srgbClr val="E4B23A"/>
      </a:accent2>
      <a:accent3>
        <a:srgbClr val="2F7D5B"/>
      </a:accent3>
      <a:accent4>
        <a:srgbClr val="5B8DB8"/>
      </a:accent4>
      <a:accent5>
        <a:srgbClr val="8A9A92"/>
      </a:accent5>
      <a:accent6>
        <a:srgbClr val="1D4036"/>
      </a:accent6>
      <a:hlink>
        <a:srgbClr val="C93A6B"/>
      </a:hlink>
      <a:folHlink>
        <a:srgbClr val="4B5E57"/>
      </a:folHlink>
    </a:clrScheme>
    <a:fontScheme name="Nhom6 Thanh Lo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hom6 Thanh Long">
  <a:themeElements>
    <a:clrScheme name="Nhom6 Thanh Long">
      <a:dk1>
        <a:srgbClr val="14302A"/>
      </a:dk1>
      <a:lt1>
        <a:srgbClr val="FFFFFF"/>
      </a:lt1>
      <a:dk2>
        <a:srgbClr val="4B5E57"/>
      </a:dk2>
      <a:lt2>
        <a:srgbClr val="EEF3EE"/>
      </a:lt2>
      <a:accent1>
        <a:srgbClr val="C93A6B"/>
      </a:accent1>
      <a:accent2>
        <a:srgbClr val="E4B23A"/>
      </a:accent2>
      <a:accent3>
        <a:srgbClr val="2F7D5B"/>
      </a:accent3>
      <a:accent4>
        <a:srgbClr val="5B8DB8"/>
      </a:accent4>
      <a:accent5>
        <a:srgbClr val="8A9A92"/>
      </a:accent5>
      <a:accent6>
        <a:srgbClr val="1D4036"/>
      </a:accent6>
      <a:hlink>
        <a:srgbClr val="C93A6B"/>
      </a:hlink>
      <a:folHlink>
        <a:srgbClr val="4B5E57"/>
      </a:folHlink>
    </a:clrScheme>
    <a:fontScheme name="Nhom6 Thanh Lo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7685</Words>
  <Application>WPS Presentation</Application>
  <PresentationFormat>On-screen Show (16:9)</PresentationFormat>
  <Paragraphs>491</Paragraphs>
  <Slides>22</Slides>
  <Notes>22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22</vt:i4>
      </vt:variant>
    </vt:vector>
  </HeadingPairs>
  <TitlesOfParts>
    <vt:vector size="36" baseType="lpstr">
      <vt:lpstr>Arial</vt:lpstr>
      <vt:lpstr>SimSun</vt:lpstr>
      <vt:lpstr>Wingdings</vt:lpstr>
      <vt:lpstr>Calibri</vt:lpstr>
      <vt:lpstr>Cambria</vt:lpstr>
      <vt:lpstr>Cambria</vt:lpstr>
      <vt:lpstr>Cambria</vt:lpstr>
      <vt:lpstr>Calibri</vt:lpstr>
      <vt:lpstr>Calibri</vt:lpstr>
      <vt:lpstr>Calibri</vt:lpstr>
      <vt:lpstr>Microsoft YaHei</vt:lpstr>
      <vt:lpstr>Arial Unicode MS</vt:lpstr>
      <vt:lpstr>MS PGothic</vt:lpstr>
      <vt:lpstr>Nhom6 Thanh Long</vt:lpstr>
      <vt:lpstr>Phân loại bệnh cây trồng từ ảnh chụp thực địa (thanh long và PlantDoc)</vt:lpstr>
      <vt:lpstr>Nội dung trình bày</vt:lpstr>
      <vt:lpstr>Bài toán: nhận diện bệnh từ ảnh chụp thực địa</vt:lpstr>
      <vt:lpstr>Bộ dữ liệu: 2.640 ảnh thanh long tự quay + PlantDoc</vt:lpstr>
      <vt:lpstr>33 lớp, số ảnh mỗi lớp chênh nhau hơn 12 lần</vt:lpstr>
      <vt:lpstr>Ảnh quay lúc trời tối khác hẳn ảnh ban ngày</vt:lpstr>
      <vt:lpstr>Chia tập theo video, không chia ngẫu nhiên</vt:lpstr>
      <vt:lpstr>Quy trình tiền xử lý gồm năm bước</vt:lpstr>
      <vt:lpstr>Làm sáng ảnh tối: khử nhiễu, gamma, CLAHE</vt:lpstr>
      <vt:lpstr>Augmentation mạnh và trọng số lớp</vt:lpstr>
      <vt:lpstr>Random Forest trên 154 đặc trưng màu sắc và kết cấu</vt:lpstr>
      <vt:lpstr>Hai mạng học sâu huấn luyện từ đầu</vt:lpstr>
      <vt:lpstr>Đường cong huấn luyện: cả hai mạng chưa học xong</vt:lpstr>
      <vt:lpstr>ResNet18 cho kết quả tốt nhất trên 734 ảnh test</vt:lpstr>
      <vt:lpstr>Thanh long dễ hơn PlantDoc, ảnh sáng dễ hơn ảnh tối</vt:lpstr>
      <vt:lpstr>Video chưa thấy: chỉ ~47%, không phải ~100%</vt:lpstr>
      <vt:lpstr>Ma trận nhầm lẫn: lỗi chủ yếu do lệch miền giữa các video</vt:lpstr>
      <vt:lpstr>Làm sáng ảnh tối: hiệu quả không đồng đều</vt:lpstr>
      <vt:lpstr>Thử nghiệm trên video: đúng 2 trên 4 video</vt:lpstr>
      <vt:lpstr>Đóng gói ResNet18 cho ứng dụng web</vt:lpstr>
      <vt:lpstr>Kết luận và hướng phát triển</vt:lpstr>
      <vt:lpstr>Xin cảm ơn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loại bệnh cây trồng từ ảnh thực địa - Nhóm 6</dc:title>
  <dc:creator>Nhóm 6 - S26-K65CNTT</dc:creator>
  <dc:subject>PptxGenJS Presentation</dc:subject>
  <cp:lastModifiedBy>ASUS</cp:lastModifiedBy>
  <cp:revision>3</cp:revision>
  <dcterms:created xsi:type="dcterms:W3CDTF">2026-10-28T15:37:00Z</dcterms:created>
  <dcterms:modified xsi:type="dcterms:W3CDTF">2026-10-28T15:45:28Z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26AB77F6CEE1482D86DFC9BCDB846775_13</vt:lpwstr>
  </property>
  <property fmtid="{D5CDD505-2E9C-101B-9397-08002B2CF9AE}" pid="3" name="KSOProductBuildVer">
    <vt:lpwstr>1033-12.1.0.29162</vt:lpwstr>
  </property>
</Properties>
</file>